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2F4F8"/>
                </a:solidFill>
              </a:defRPr>
            </a:pPr>
            <a:r>
              <a:t>AI/NLP Financial Risk Engine &amp; Dual Downstream Intelligence Platform</a:t>
            </a:r>
          </a:p>
          <a:p>
            <a:pPr>
              <a:spcBef>
                <a:spcPts val="1000"/>
              </a:spcBef>
              <a:defRPr sz="1500">
                <a:solidFill>
                  <a:srgbClr val="38BDF8"/>
                </a:solidFill>
              </a:defRPr>
            </a:pPr>
            <a:r>
              <a:t>A Multi-Source Unstructured Text Pipeline Driving Tactical Index Rebalancing &amp; Wholesale Banking Stress Testing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931920"/>
            <a:ext cx="10360152" cy="201168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262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Candidate Details &amp; Project Scope</a:t>
            </a:r>
          </a:p>
          <a:p>
            <a:pPr>
              <a:spcBef>
                <a:spcPts val="500"/>
              </a:spcBef>
              <a:defRPr sz="1100">
                <a:solidFill>
                  <a:srgbClr val="F2F4F8"/>
                </a:solidFill>
              </a:defRPr>
            </a:pPr>
            <a:r>
              <a:t>•  Candidate Name:  Vedant Dilip Nalge</a:t>
            </a:r>
          </a:p>
          <a:p>
            <a:pPr>
              <a:spcBef>
                <a:spcPts val="500"/>
              </a:spcBef>
              <a:defRPr sz="1100">
                <a:solidFill>
                  <a:srgbClr val="F2F4F8"/>
                </a:solidFill>
              </a:defRPr>
            </a:pPr>
            <a:r>
              <a:t>•  College / Campus:  Indian Institute of Technology Madras (me22b162@smail.iitm.ac.in)</a:t>
            </a:r>
          </a:p>
          <a:p>
            <a:pPr>
              <a:spcBef>
                <a:spcPts val="500"/>
              </a:spcBef>
              <a:defRPr sz="1100">
                <a:solidFill>
                  <a:srgbClr val="F2F4F8"/>
                </a:solidFill>
              </a:defRPr>
            </a:pPr>
            <a:r>
              <a:t>•  Target Track:  AI/NLP Risk Engine (Sub-25ms FinBERT Continuous Scoring &amp; 6-Taxonomy Classifier)</a:t>
            </a:r>
          </a:p>
          <a:p>
            <a:pPr>
              <a:spcBef>
                <a:spcPts val="500"/>
              </a:spcBef>
              <a:defRPr sz="1100">
                <a:solidFill>
                  <a:srgbClr val="F2F4F8"/>
                </a:solidFill>
              </a:defRPr>
            </a:pPr>
            <a:r>
              <a:t>•  Downstream Modules:  Both Module A (Tactical Index Rebalancer) &amp; Module B (Wholesale Portfolio Stress Tester)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2F4F8"/>
                </a:solidFill>
                <a:latin typeface="Arial"/>
              </a:defRPr>
            </a:pPr>
            <a:r>
              <a:t>Business Problem &amp; Solution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A26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600" b="1">
                <a:solidFill>
                  <a:srgbClr val="EF4444"/>
                </a:solidFill>
              </a:defRPr>
            </a:pPr>
            <a:r>
              <a:t>The Business Problem</a:t>
            </a:r>
          </a:p>
          <a:p>
            <a:pPr>
              <a:spcBef>
                <a:spcPts val="1400"/>
              </a:spcBef>
              <a:defRPr sz="1100">
                <a:solidFill>
                  <a:srgbClr val="F2F4F8"/>
                </a:solidFill>
              </a:defRPr>
            </a:pPr>
            <a:r>
              <a:t>•  Lagged Disclosure Blind Spots: Traditional risk models rely predominantly on quarterly financial reports and delayed credit rating agency updates.</a:t>
            </a:r>
          </a:p>
          <a:p>
            <a:pPr>
              <a:spcBef>
                <a:spcPts val="1400"/>
              </a:spcBef>
              <a:defRPr sz="1100">
                <a:solidFill>
                  <a:srgbClr val="F2F4F8"/>
                </a:solidFill>
              </a:defRPr>
            </a:pPr>
            <a:r>
              <a:t>•  Unstructured Narrative Overload: Financial institutions process millions of qualitative headlines, earnings wires, and retail social posts without automated quantification.</a:t>
            </a:r>
          </a:p>
          <a:p>
            <a:pPr>
              <a:spcBef>
                <a:spcPts val="1400"/>
              </a:spcBef>
              <a:defRPr sz="1100">
                <a:solidFill>
                  <a:srgbClr val="F2F4F8"/>
                </a:solidFill>
              </a:defRPr>
            </a:pPr>
            <a:r>
              <a:t>•  Disconnected Decision Silos: Qualitative research rarely flows synchronously into both asset allocation desks and wholesale balance sheet stress testing desks.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61A26"/>
          </a:solidFill>
          <a:ln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600" b="1">
                <a:solidFill>
                  <a:srgbClr val="35C471"/>
                </a:solidFill>
              </a:defRPr>
            </a:pPr>
            <a:r>
              <a:t>Our Solution Approach</a:t>
            </a:r>
          </a:p>
          <a:p>
            <a:pPr>
              <a:spcBef>
                <a:spcPts val="1400"/>
              </a:spcBef>
              <a:defRPr sz="1100">
                <a:solidFill>
                  <a:srgbClr val="F2F4F8"/>
                </a:solidFill>
              </a:defRPr>
            </a:pPr>
            <a:r>
              <a:t>•  Real-Time Telemetry Pipeline: Continuous zero-cost streaming from Yahoo Finance RSS, ticker news, and public StockTwits social sentiment streams.</a:t>
            </a:r>
          </a:p>
          <a:p>
            <a:pPr>
              <a:spcBef>
                <a:spcPts val="1400"/>
              </a:spcBef>
              <a:defRPr sz="1100">
                <a:solidFill>
                  <a:srgbClr val="F2F4F8"/>
                </a:solidFill>
              </a:defRPr>
            </a:pPr>
            <a:r>
              <a:t>•  Tri-Factor Risk Signal Engine: Calibrated continuous Sentiment (-1.0 to +1.0), 6-class Financial Event Taxonomy, and Severity Impact (1 to 10).</a:t>
            </a:r>
          </a:p>
          <a:p>
            <a:pPr>
              <a:spcBef>
                <a:spcPts val="1400"/>
              </a:spcBef>
              <a:defRPr sz="1100">
                <a:solidFill>
                  <a:srgbClr val="F2F4F8"/>
                </a:solidFill>
              </a:defRPr>
            </a:pPr>
            <a:r>
              <a:t>•  Synchronous Dual Downstream Feeding: Directly drives real-time stock index rebalancing (Module A) while perturbing multi-factor shocks onto a $1.0B wholesale credit book (Module B).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2F4F8"/>
                </a:solidFill>
                <a:latin typeface="Arial"/>
              </a:defRPr>
            </a:pPr>
            <a:r>
              <a:t>System Design &amp; End-to-End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011680" cy="438912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274320" wrap="square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1. INGESTION</a:t>
            </a:r>
          </a:p>
          <a:p>
            <a:pPr>
              <a:spcBef>
                <a:spcPts val="800"/>
              </a:spcBef>
              <a:defRPr sz="1000" b="1">
                <a:solidFill>
                  <a:srgbClr val="F2F4F8"/>
                </a:solidFill>
              </a:defRPr>
            </a:pPr>
            <a:r>
              <a:t>Yahoo RSS + StockTwits + Crisis Replayer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Live financial headlines, social sentiment streams, and deterministic historical templates.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828800"/>
            <a:ext cx="2011680" cy="438912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274320" wrap="square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2. NLP ENGINE</a:t>
            </a:r>
          </a:p>
          <a:p>
            <a:pPr>
              <a:spcBef>
                <a:spcPts val="800"/>
              </a:spcBef>
              <a:defRPr sz="1000" b="1">
                <a:solidFill>
                  <a:srgbClr val="F2F4F8"/>
                </a:solidFill>
              </a:defRPr>
            </a:pPr>
            <a:r>
              <a:t>FinBERT + Loughran Scorer + NER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Continuous sentiment (-1 to +1), 6-class classification, severity scoring (1 to 10).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828800"/>
            <a:ext cx="2011680" cy="438912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F2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274320" wrap="square"/>
          <a:lstStyle/>
          <a:p>
            <a:pPr algn="ctr">
              <a:defRPr sz="1200" b="1">
                <a:solidFill>
                  <a:srgbClr val="F2F4F8"/>
                </a:solidFill>
              </a:defRPr>
            </a:pPr>
            <a:r>
              <a:t>3. REST API &amp; DB</a:t>
            </a:r>
          </a:p>
          <a:p>
            <a:pPr>
              <a:spcBef>
                <a:spcPts val="800"/>
              </a:spcBef>
              <a:defRPr sz="1000" b="1">
                <a:solidFill>
                  <a:srgbClr val="F2F4F8"/>
                </a:solidFill>
              </a:defRPr>
            </a:pPr>
            <a:r>
              <a:t>FastAPI + SQLite + JWT Security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ACID database persistence, signal audit ledger, PBKDF2 role-based authorization.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9" y="1828800"/>
            <a:ext cx="2011680" cy="438912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274320" wrap="square"/>
          <a:lstStyle/>
          <a:p>
            <a:pPr algn="ctr">
              <a:defRPr sz="1200" b="1">
                <a:solidFill>
                  <a:srgbClr val="35C471"/>
                </a:solidFill>
              </a:defRPr>
            </a:pPr>
            <a:r>
              <a:t>4. MODULE A</a:t>
            </a:r>
          </a:p>
          <a:p>
            <a:pPr>
              <a:spcBef>
                <a:spcPts val="800"/>
              </a:spcBef>
              <a:defRPr sz="1000" b="1">
                <a:solidFill>
                  <a:srgbClr val="F2F4F8"/>
                </a:solidFill>
              </a:defRPr>
            </a:pPr>
            <a:r>
              <a:t>Tactical Index Rebalancer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Quadratic sentiment optimization across 15 blue-chips, 1%-18% regulatory limits.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828800"/>
            <a:ext cx="2011680" cy="438912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274320" wrap="square"/>
          <a:lstStyle/>
          <a:p>
            <a:pPr algn="ctr">
              <a:defRPr sz="1200" b="1">
                <a:solidFill>
                  <a:srgbClr val="EF4444"/>
                </a:solidFill>
              </a:defRPr>
            </a:pPr>
            <a:r>
              <a:t>5. MODULE B</a:t>
            </a:r>
          </a:p>
          <a:p>
            <a:pPr>
              <a:spcBef>
                <a:spcPts val="800"/>
              </a:spcBef>
              <a:defRPr sz="1000" b="1">
                <a:solidFill>
                  <a:srgbClr val="F2F4F8"/>
                </a:solidFill>
              </a:defRPr>
            </a:pPr>
            <a:r>
              <a:t>Wholesale Stress Tester ($1.0B)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Basel III Expected Loss on loans, duration-convexity on bonds, waterfall degradation.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2F4F8"/>
                </a:solidFill>
                <a:latin typeface="Arial"/>
              </a:defRPr>
            </a:pPr>
            <a:r>
              <a:t>Implementation Highlights &amp; Key Tech Choices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 wrap="square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Sub-25ms High-Throughput NLP</a:t>
            </a:r>
          </a:p>
          <a:p>
            <a:pPr>
              <a:spcBef>
                <a:spcPts val="600"/>
              </a:spcBef>
              <a:defRPr sz="1050">
                <a:solidFill>
                  <a:srgbClr val="F2F4F8"/>
                </a:solidFill>
              </a:defRPr>
            </a:pPr>
            <a:r>
              <a:t>Engineered lightweight financial lexicon parsing with FinBERT score calibration, entity/ticker detection, and hyperbolic tangent normalization for real-time market responsiveness.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20640" cy="21031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Dynamic Basel III Migration Modeling</a:t>
            </a:r>
          </a:p>
          <a:p>
            <a:pPr>
              <a:spcBef>
                <a:spcPts val="600"/>
              </a:spcBef>
              <a:defRPr sz="1050">
                <a:solidFill>
                  <a:srgbClr val="F2F4F8"/>
                </a:solidFill>
              </a:defRPr>
            </a:pPr>
            <a:r>
              <a:t>Module B implements standard regulatory Expected Loss (EL = EAD × PD × LGD) with credit migration matrices and duration-convexity price shock equations for bonds.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 wrap="square"/>
          <a:lstStyle/>
          <a:p>
            <a:pPr algn="ctr">
              <a:defRPr sz="1300" b="1">
                <a:solidFill>
                  <a:srgbClr val="35C471"/>
                </a:solidFill>
              </a:defRPr>
            </a:pPr>
            <a:r>
              <a:t>ISTC-Inspired Dark Cockpit UI</a:t>
            </a:r>
          </a:p>
          <a:p>
            <a:pPr>
              <a:spcBef>
                <a:spcPts val="600"/>
              </a:spcBef>
              <a:defRPr sz="1050">
                <a:solidFill>
                  <a:srgbClr val="F2F4F8"/>
                </a:solidFill>
              </a:defRPr>
            </a:pPr>
            <a:r>
              <a:t>Built with Tailwind CSS, Chart.js, KaTeX mathematical typography, and Lucide icons—featuring an ambient neon aesthetic, live ticker marquee, and interactive drilldowns.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023360"/>
            <a:ext cx="5120640" cy="210312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F2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28600" wrap="square"/>
          <a:lstStyle/>
          <a:p>
            <a:pPr algn="ctr">
              <a:defRPr sz="1300" b="1">
                <a:solidFill>
                  <a:srgbClr val="F2F4F8"/>
                </a:solidFill>
              </a:defRPr>
            </a:pPr>
            <a:r>
              <a:t>Built-In AI Copilot &amp; Deterministic Replay</a:t>
            </a:r>
          </a:p>
          <a:p>
            <a:pPr>
              <a:spcBef>
                <a:spcPts val="600"/>
              </a:spcBef>
              <a:defRPr sz="1050">
                <a:solidFill>
                  <a:srgbClr val="F2F4F8"/>
                </a:solidFill>
              </a:defRPr>
            </a:pPr>
            <a:r>
              <a:t>Integrated conversational risk assistant with chart snapshot vision telemetry and 6 curated macro crisis templates for bulletproof jury demonstration.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2F4F8"/>
                </a:solidFill>
                <a:latin typeface="Arial"/>
              </a:defRPr>
            </a:pPr>
            <a:r>
              <a:t>Key Quantitative Results &amp; Benchmark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011680" cy="438912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274320" wrap="square"/>
          <a:lstStyle/>
          <a:p>
            <a:pPr algn="ctr">
              <a:defRPr sz="2200" b="1">
                <a:solidFill>
                  <a:srgbClr val="35C471"/>
                </a:solidFill>
              </a:defRPr>
            </a:pPr>
            <a:r>
              <a:t>+34.2 bps</a:t>
            </a:r>
          </a:p>
          <a:p>
            <a:pPr>
              <a:spcBef>
                <a:spcPts val="800"/>
              </a:spcBef>
              <a:defRPr sz="1050" b="1">
                <a:solidFill>
                  <a:srgbClr val="F2F4F8"/>
                </a:solidFill>
              </a:defRPr>
            </a:pPr>
            <a:r>
              <a:t>Strategy Alpha (Module A)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Net outperformance vs Equal-Weight benchmark through sentiment momentum tilt.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828800"/>
            <a:ext cx="2011680" cy="438912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274320" wrap="square"/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t>6.8%</a:t>
            </a:r>
          </a:p>
          <a:p>
            <a:pPr>
              <a:spcBef>
                <a:spcPts val="800"/>
              </a:spcBef>
              <a:defRPr sz="1050" b="1">
                <a:solidFill>
                  <a:srgbClr val="F2F4F8"/>
                </a:solidFill>
              </a:defRPr>
            </a:pPr>
            <a:r>
              <a:t>Portfolio Turnover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Disciplined rebalancing bounding friction and transaction slippage costs.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828800"/>
            <a:ext cx="2011680" cy="438912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274320" wrap="square"/>
          <a:lstStyle/>
          <a:p>
            <a:pPr algn="ctr">
              <a:defRPr sz="2200" b="1">
                <a:solidFill>
                  <a:srgbClr val="EF4444"/>
                </a:solidFill>
              </a:defRPr>
            </a:pPr>
            <a:r>
              <a:t>-$60.0M</a:t>
            </a:r>
          </a:p>
          <a:p>
            <a:pPr>
              <a:spcBef>
                <a:spcPts val="800"/>
              </a:spcBef>
              <a:defRPr sz="1050" b="1">
                <a:solidFill>
                  <a:srgbClr val="F2F4F8"/>
                </a:solidFill>
              </a:defRPr>
            </a:pPr>
            <a:r>
              <a:t>Wholesale Loss ($1.0B Book)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Decomposed into -$38.0M bond duration haircut, -$18.0M loan ECL, -$4.0M swap DV01.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199" y="1828800"/>
            <a:ext cx="2011680" cy="438912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274320" wrap="square"/>
          <a:lstStyle/>
          <a:p>
            <a:pPr algn="ctr">
              <a:defRPr sz="2200" b="1">
                <a:solidFill>
                  <a:srgbClr val="F59E0B"/>
                </a:solidFill>
              </a:defRPr>
            </a:pPr>
            <a:r>
              <a:t>$940.0M</a:t>
            </a:r>
          </a:p>
          <a:p>
            <a:pPr>
              <a:spcBef>
                <a:spcPts val="800"/>
              </a:spcBef>
              <a:defRPr sz="1050" b="1">
                <a:solidFill>
                  <a:srgbClr val="F2F4F8"/>
                </a:solidFill>
              </a:defRPr>
            </a:pPr>
            <a:r>
              <a:t>Retained Tier-1 Capital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Preserves 94.0% balance sheet solvency, well above Basel III 8.0% minimum ratio.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0" y="1828800"/>
            <a:ext cx="2011680" cy="4389120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F2F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274320" wrap="square"/>
          <a:lstStyle/>
          <a:p>
            <a:pPr algn="ctr">
              <a:defRPr sz="2200" b="1">
                <a:solidFill>
                  <a:srgbClr val="F2F4F8"/>
                </a:solidFill>
              </a:defRPr>
            </a:pPr>
            <a:r>
              <a:t>~22ms</a:t>
            </a:r>
          </a:p>
          <a:p>
            <a:pPr>
              <a:spcBef>
                <a:spcPts val="800"/>
              </a:spcBef>
              <a:defRPr sz="1050" b="1">
                <a:solidFill>
                  <a:srgbClr val="F2F4F8"/>
                </a:solidFill>
              </a:defRPr>
            </a:pPr>
            <a:r>
              <a:t>End-to-End Latency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Average inference latency from unstructured text parsing to downstream signal emission.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2F4F8"/>
                </a:solidFill>
                <a:latin typeface="Arial"/>
              </a:defRPr>
            </a:pPr>
            <a:r>
              <a:t>Domain Impact &amp; Institutional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07040" cy="1280160"/>
          </a:xfrm>
          <a:prstGeom prst="roundRect">
            <a:avLst/>
          </a:prstGeom>
          <a:solidFill>
            <a:srgbClr val="161A2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 wrap="square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Pre-Emptive Risk Mitigation</a:t>
            </a:r>
          </a:p>
          <a:p>
            <a:pPr>
              <a:spcBef>
                <a:spcPts val="400"/>
              </a:spcBef>
              <a:defRPr sz="1050">
                <a:solidFill>
                  <a:srgbClr val="F2F4F8"/>
                </a:solidFill>
              </a:defRPr>
            </a:pPr>
            <a:r>
              <a:t>Detects counterparty credit distress, liquidity squeezes, and supply-chain vulnerabilities days before formal rating agency reviews or earnings disclosures take place.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10607040" cy="1280160"/>
          </a:xfrm>
          <a:prstGeom prst="roundRect">
            <a:avLst/>
          </a:prstGeom>
          <a:solidFill>
            <a:srgbClr val="161A26"/>
          </a:solidFill>
          <a:ln w="15240">
            <a:solidFill>
              <a:srgbClr val="35C4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 wrap="square"/>
          <a:lstStyle/>
          <a:p>
            <a:pPr algn="ctr">
              <a:defRPr sz="1400" b="1">
                <a:solidFill>
                  <a:srgbClr val="35C471"/>
                </a:solidFill>
              </a:defRPr>
            </a:pPr>
            <a:r>
              <a:t>Systematic Emotion-Free Alpha</a:t>
            </a:r>
          </a:p>
          <a:p>
            <a:pPr>
              <a:spcBef>
                <a:spcPts val="400"/>
              </a:spcBef>
              <a:defRPr sz="1050">
                <a:solidFill>
                  <a:srgbClr val="F2F4F8"/>
                </a:solidFill>
              </a:defRPr>
            </a:pPr>
            <a:r>
              <a:t>Equips quantitative asset managers with dynamic, disciplined factor tilting that captures market sentiment drift while adhering strictly to regulatory risk bounds (1%-18%).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10607040" cy="1280160"/>
          </a:xfrm>
          <a:prstGeom prst="roundRect">
            <a:avLst/>
          </a:prstGeom>
          <a:solidFill>
            <a:srgbClr val="161A26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Regulatory Capital Stress Transparency</a:t>
            </a:r>
          </a:p>
          <a:p>
            <a:pPr>
              <a:spcBef>
                <a:spcPts val="400"/>
              </a:spcBef>
              <a:defRPr sz="1050">
                <a:solidFill>
                  <a:srgbClr val="F2F4F8"/>
                </a:solidFill>
              </a:defRPr>
            </a:pPr>
            <a:r>
              <a:t>Bridges the gap between qualitative news headlines and Basel III capital adequacy ratios, giving Chief Risk Officers instantaneous insight into credit buffer erosion.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Arial"/>
              </a:defRPr>
            </a:pPr>
            <a:r>
              <a:t>S&amp;P GLOBAL ×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2F4F8"/>
                </a:solidFill>
                <a:latin typeface="Arial"/>
              </a:defRPr>
            </a:pPr>
            <a:r>
              <a:t>Limitations &amp; Strategic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A26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Current Assumptions &amp; Scope</a:t>
            </a:r>
          </a:p>
          <a:p>
            <a:pPr>
              <a:spcBef>
                <a:spcPts val="1400"/>
              </a:spcBef>
              <a:defRPr sz="1100">
                <a:solidFill>
                  <a:srgbClr val="F2F4F8"/>
                </a:solidFill>
              </a:defRPr>
            </a:pPr>
            <a:r>
              <a:t>•  Index Universe Scope: Demonstration universe is focused on 15 core mega-cap equities rather than the full S&amp;P 500 index.</a:t>
            </a:r>
          </a:p>
          <a:p>
            <a:pPr>
              <a:spcBef>
                <a:spcPts val="1400"/>
              </a:spcBef>
              <a:defRPr sz="1100">
                <a:solidFill>
                  <a:srgbClr val="F2F4F8"/>
                </a:solidFill>
              </a:defRPr>
            </a:pPr>
            <a:r>
              <a:t>•  Synthetic Wholesale Book: Built on representative synthetic loans and bond covenants ($1.0B book) due to institutional client data privacy.</a:t>
            </a:r>
          </a:p>
          <a:p>
            <a:pPr>
              <a:spcBef>
                <a:spcPts val="1400"/>
              </a:spcBef>
              <a:defRPr sz="1100">
                <a:solidFill>
                  <a:srgbClr val="F2F4F8"/>
                </a:solidFill>
              </a:defRPr>
            </a:pPr>
            <a:r>
              <a:t>•  Single-Day Horizon: Focuses on immediate tactical mark-to-market and 1-year Basel III expected loss rather than multi-quarter macroeconomic forecasts.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61A26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365760" wrap="square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Strategic Engineering Roadmap</a:t>
            </a:r>
          </a:p>
          <a:p>
            <a:pPr>
              <a:spcBef>
                <a:spcPts val="1400"/>
              </a:spcBef>
              <a:defRPr sz="1100">
                <a:solidFill>
                  <a:srgbClr val="F2F4F8"/>
                </a:solidFill>
              </a:defRPr>
            </a:pPr>
            <a:r>
              <a:t>•  Distributed Universe Scale: Scale to 5,000+ global tickers across S&amp;P Global and Russell indexes using Celery and Redis clusters.</a:t>
            </a:r>
          </a:p>
          <a:p>
            <a:pPr>
              <a:spcBef>
                <a:spcPts val="1400"/>
              </a:spcBef>
              <a:defRPr sz="1100">
                <a:solidFill>
                  <a:srgbClr val="F2F4F8"/>
                </a:solidFill>
              </a:defRPr>
            </a:pPr>
            <a:r>
              <a:t>•  FIX Protocol DMA Routing: Connect automated order execution gateways with dark pool liquidity routing for minimal market impact.</a:t>
            </a:r>
          </a:p>
          <a:p>
            <a:pPr>
              <a:spcBef>
                <a:spcPts val="1400"/>
              </a:spcBef>
              <a:defRPr sz="1100">
                <a:solidFill>
                  <a:srgbClr val="F2F4F8"/>
                </a:solidFill>
              </a:defRPr>
            </a:pPr>
            <a:r>
              <a:t>•  Multimodal 10-K &amp; Speech Parsing: Ingest quarterly SEC 10-K filings, earnings call audio, and FOMC press conferences using multimodal LLMs.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