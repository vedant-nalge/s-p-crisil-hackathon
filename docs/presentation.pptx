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S&amp;P GLOBAL × CRISIL CAMPUS HACKATHON 2026 // CASE STUDY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2F4F8"/>
                </a:solidFill>
              </a:defRPr>
            </a:pPr>
            <a:r>
              <a:t>AI/NLP Financial Risk Engine &amp; Dual Downstream Intelligence Platform</a:t>
            </a:r>
          </a:p>
          <a:p>
            <a:pPr>
              <a:spcBef>
                <a:spcPts val="800"/>
              </a:spcBef>
              <a:defRPr sz="1350">
                <a:solidFill>
                  <a:srgbClr val="38BDF8"/>
                </a:solidFill>
              </a:defRPr>
            </a:pPr>
            <a:r>
              <a:t>Live Simulation Case Study: Transmitting the 'Trump-Russia Diesel Deal' Geopolitical Shock onto Index Weights &amp; Wholesale Capital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06324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Candidate Name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2F4F8"/>
                          </a:solidFill>
                        </a:defRPr>
                      </a:pPr>
                      <a:r>
                        <a:t>Vedant Dilip Nalge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College / Campus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2F4F8"/>
                          </a:solidFill>
                        </a:defRPr>
                      </a:pPr>
                      <a:r>
                        <a:t>Indian Institute of Technology Madras (me22b162@smail.iitm.ac.in)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Target Track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2F4F8"/>
                          </a:solidFill>
                        </a:defRPr>
                      </a:pPr>
                      <a:r>
                        <a:t>AI/NLP Financial Risk Engine (FinBERT Continuous Sentiment &amp; 6-Class Taxonomy)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Downstream Implementations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2F4F8"/>
                          </a:solidFill>
                        </a:defRPr>
                      </a:pPr>
                      <a:r>
                        <a:t>Simultaneous Delivery: Module A (Tactical Rebalancer) &amp; Module B (Wholesale Stress Tester)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Live Simulation Scenario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2F4F8"/>
                          </a:solidFill>
                        </a:defRPr>
                      </a:pPr>
                      <a:r>
                        <a:t>Trump-Russia Diesel Deal Geopolitical Event (Sentiment: -0.95 | Impact: 9.6/10 | Loss: -$206.4M)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15000"/>
            <a:ext cx="2057400" cy="502920"/>
          </a:xfrm>
          <a:prstGeom prst="roundRect">
            <a:avLst/>
          </a:prstGeom>
          <a:solidFill>
            <a:srgbClr val="161A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Sub-25ms FinBERT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5715000"/>
            <a:ext cx="2057400" cy="502920"/>
          </a:xfrm>
          <a:prstGeom prst="roundRect">
            <a:avLst/>
          </a:prstGeom>
          <a:solidFill>
            <a:srgbClr val="161A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Sentiment: -0.95 Bearish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5715000"/>
            <a:ext cx="2057400" cy="502920"/>
          </a:xfrm>
          <a:prstGeom prst="roundRect">
            <a:avLst/>
          </a:prstGeom>
          <a:solidFill>
            <a:srgbClr val="161A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Severity Impact: 9.6/10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5715000"/>
            <a:ext cx="2057400" cy="502920"/>
          </a:xfrm>
          <a:prstGeom prst="roundRect">
            <a:avLst/>
          </a:prstGeom>
          <a:solidFill>
            <a:srgbClr val="161A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Wholesale Drawdown: -$206.4M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5715000"/>
            <a:ext cx="2057400" cy="502920"/>
          </a:xfrm>
          <a:prstGeom prst="roundRect">
            <a:avLst/>
          </a:prstGeom>
          <a:solidFill>
            <a:srgbClr val="161A26"/>
          </a:solidFill>
          <a:ln w="12700">
            <a:solidFill>
              <a:srgbClr val="35C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5C471"/>
                </a:solidFill>
              </a:defRPr>
            </a:pPr>
            <a:r>
              <a:t>Tier-1 Retained: $793.6M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Business Problem &amp; Solution Approach // Multi-Source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46888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The Financial Problem: Qualitative Blind Spots</a:t>
            </a:r>
          </a:p>
          <a:p>
            <a:pPr>
              <a:spcBef>
                <a:spcPts val="600"/>
              </a:spcBef>
              <a:defRPr sz="950">
                <a:solidFill>
                  <a:srgbClr val="F2F4F8"/>
                </a:solidFill>
              </a:defRPr>
            </a:pPr>
            <a:r>
              <a:t>• Lagged Disclosures: Traditional models wait for quarterly reports or delayed rating agency revisions, failing to detect sudden geopolitical crises.</a:t>
            </a:r>
            <a:br/>
            <a:r>
              <a:t>• Narrative Deluge: Institutional news wires generate thousands of qualitative headlines daily without automated, machine-readable quantification.</a:t>
            </a:r>
            <a:br/>
            <a:r>
              <a:t>• Disconnected Desks: Equity portfolio managers and wholesale banking CROs lack a unified real-time risk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246888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35C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35C471"/>
                </a:solidFill>
              </a:defRPr>
            </a:pPr>
            <a:r>
              <a:t>Our Solution: Continuous Ingestion &amp; AI Risk Signal</a:t>
            </a:r>
          </a:p>
          <a:p>
            <a:pPr>
              <a:spcBef>
                <a:spcPts val="600"/>
              </a:spcBef>
              <a:defRPr sz="950">
                <a:solidFill>
                  <a:srgbClr val="F2F4F8"/>
                </a:solidFill>
              </a:defRPr>
            </a:pPr>
            <a:r>
              <a:t>• Zero-Cost Live Ingestion: Streams institutional news (Yahoo RSS, Bloomberg wires) and social feeds (StockTwits) with sub-25ms parsing latency.</a:t>
            </a:r>
            <a:br/>
            <a:r>
              <a:t>• Tri-Factor Telemetry: Extracts continuous Sentiment (-1.0 to +1.0), 6-class Taxonomy, and Severity Impact (1 to 10).</a:t>
            </a:r>
            <a:br/>
            <a:r>
              <a:t>• Synchronous Dual Propagation: Simultaneously tilts index constituents (Module A) and stresses a $1.0B wholesale credit book (Module B).</a:t>
            </a:r>
          </a:p>
        </p:txBody>
      </p:sp>
      <p:pic>
        <p:nvPicPr>
          <p:cNvPr id="7" name="Picture 6" descr="trump_russia_news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106984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System Design &amp; End-to-End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217920" cy="4846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417320"/>
          <a:ext cx="4297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59E0B"/>
                          </a:solidFill>
                        </a:defRPr>
                      </a:pPr>
                      <a:r>
                        <a:t>1. Ingestion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2F4F8"/>
                          </a:solidFill>
                        </a:defRPr>
                      </a:pPr>
                      <a:r>
                        <a:t>Yahoo RSS + StockTwits REST + 6 Curated Historical Crisis Replayers for deterministic jury review.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59E0B"/>
                          </a:solidFill>
                        </a:defRPr>
                      </a:pPr>
                      <a:r>
                        <a:t>2. NLP Core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2F4F8"/>
                          </a:solidFill>
                        </a:defRPr>
                      </a:pPr>
                      <a:r>
                        <a:t>FinBERT + Loughran-McDonald sentiment, entity detection, and 6-class taxonomy categorizer.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59E0B"/>
                          </a:solidFill>
                        </a:defRPr>
                      </a:pPr>
                      <a:r>
                        <a:t>3. Storage &amp; API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2F4F8"/>
                          </a:solidFill>
                        </a:defRPr>
                      </a:pPr>
                      <a:r>
                        <a:t>FastAPI asynchronous REST gateway + SQLite ACID relational DB with JWT auth.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59E0B"/>
                          </a:solidFill>
                        </a:defRPr>
                      </a:pPr>
                      <a:r>
                        <a:t>4. Module A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2F4F8"/>
                          </a:solidFill>
                        </a:defRPr>
                      </a:pPr>
                      <a:r>
                        <a:t>Dynamic quadratic optimizer across 15 blue-chips with turnover and alpha tracking.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59E0B"/>
                          </a:solidFill>
                        </a:defRPr>
                      </a:pPr>
                      <a:r>
                        <a:t>5. Module B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2F4F8"/>
                          </a:solidFill>
                        </a:defRPr>
                      </a:pPr>
                      <a:r>
                        <a:t>Basel III Expected Loss for loans ($550M), duration-convexity for bonds ($450M), and DV01 for swaps ($250M).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Live Simulation: AI/NLP Inference on 'Trump-Russia Diesel Deal'</a:t>
            </a:r>
          </a:p>
        </p:txBody>
      </p:sp>
      <p:pic>
        <p:nvPicPr>
          <p:cNvPr id="5" name="Picture 4" descr="trump_russia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67512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17320"/>
            <a:ext cx="3840480" cy="489204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Inference &amp; Propagation Metrics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Incoming Event: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Headline: 'Trump's Russia Diesel Deal Deepens Ukraine Rift' (Bloomberg)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Classification: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Geopolitical Risk (80% Confidence Score)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Sentiment Speedometer: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-0.95 (Deep Bearish / Extreme Risk Off)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Impact Severity Score: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9.6 / 10.0 (Severe Systemic Shock)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Stress Gate Status: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TRIPPED: Severity &gt;= 7.0 automatically cascades into Module B Wholesale Stress Test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Identified Assets: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4 Primary Tickers detected: AAPL, NVDA, PLTR, TSLA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•  Inference Speed: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Processed in ~22ms end-to-end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84632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Event Taxonomy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Sentiment Score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Impact Severity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Affected Tickers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Geopolitical (80%)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F4444"/>
                          </a:solidFill>
                        </a:defRPr>
                      </a:pPr>
                      <a:r>
                        <a:t>-0.95 (Bearish)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9.6 / 10.0 (Critical)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AAPL, NVDA, PLTR, TSLA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Live Simulation: Module A Tactical Index Rebalancer (Core 15)</a:t>
            </a:r>
          </a:p>
        </p:txBody>
      </p:sp>
      <p:pic>
        <p:nvPicPr>
          <p:cNvPr id="5" name="Picture 4" descr="trump_russia_modul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67512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17320"/>
            <a:ext cx="3840480" cy="489204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35C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35C471"/>
                </a:solidFill>
              </a:defRPr>
            </a:pPr>
            <a:r>
              <a:t>Portfolio Rebalancing Highlights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Trigger Event: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Rebalance applied automatically after 'Trump's Russia Diesel Deal' signal emission.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Flight-to-Safety Rotation: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Capital rotates out of high-beta tech into fortress balance sheets: MSFT (18.87%), GOOGL (18.87%), and JPM (18.87%) hit the regulatory ceiling.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Risk Trimming: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High-volatility assets trimmed: TSLA reduced to 1.14%, AMZN reduced to 1.19%, NVDA to 8.45%.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Regulatory Bounding: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Single-stock constraints enforced [1.0%, 18.87%], preventing unbounded sentiment concentration.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Performance Metrics: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• Strategy Alpha: +5 bps (+0.05% excess return)</a:t>
            </a:r>
            <a:br/>
            <a:r>
              <a:t>• Portfolio Turnover: 9.49% (controlled cost)</a:t>
            </a:r>
            <a:br/>
            <a:r>
              <a:t>• Weights Normalized: Exactly 100.0% sum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•  Dynamic Telemetry:</a:t>
            </a:r>
          </a:p>
          <a:p>
            <a:pPr>
              <a:spcBef>
                <a:spcPts val="100"/>
              </a:spcBef>
              <a:defRPr sz="900">
                <a:solidFill>
                  <a:srgbClr val="F2F4F8"/>
                </a:solidFill>
              </a:defRPr>
            </a:pPr>
            <a:r>
              <a:t>Sector donut and cumulative alpha timeline update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Live Simulation: Module B Wholesale Stress Testing ($1.0B Book)</a:t>
            </a:r>
          </a:p>
        </p:txBody>
      </p:sp>
      <p:pic>
        <p:nvPicPr>
          <p:cNvPr id="5" name="Picture 4" descr="trump_russia_modul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67512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17320"/>
            <a:ext cx="3840480" cy="489204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Wholesale Capital Stress Breakdown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Macro Shocks Applied: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• Interest Rate Shift (Δy): +104 bps</a:t>
            </a:r>
            <a:br/>
            <a:r>
              <a:t>• Credit Spread Widening (Δs): +351 bps</a:t>
            </a:r>
            <a:br/>
            <a:r>
              <a:t>• Basel PD Multiplier: 2.52x (jump-to-default)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Capital Loss Breakdown: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• Pre-Stress Book: $1,000.0M ($1.0B)</a:t>
            </a:r>
            <a:br/>
            <a:r>
              <a:t>• Total Capital Drawdown: -$206.4M (-20.64%)</a:t>
            </a:r>
            <a:br/>
            <a:r>
              <a:t>• Decomposed across Loans (EL) and Bond mark-to-market duration-convexity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Post-Stress Valuation: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Retained Tier-1 Capital: $793.6M (79.36% preservation)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Basel III Solvency Floor: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Comfortably survives the 8.0% regulatory minimum capital threshold without breaching bank capital adequacy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Credit Migration Heatmap: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• AAA: 0.10% -&gt; 0.25%</a:t>
            </a:r>
            <a:br/>
            <a:r>
              <a:t>• A: 0.80% -&gt; 2.00%</a:t>
            </a:r>
            <a:br/>
            <a:r>
              <a:t>• BBB: 1.80% -&gt; 4.50%</a:t>
            </a:r>
            <a:br/>
            <a:r>
              <a:t>• B: 9.50% -&gt; 23.75% default rate</a:t>
            </a:r>
          </a:p>
          <a:p>
            <a:pPr>
              <a:spcBef>
                <a:spcPts val="500"/>
              </a:spcBef>
              <a:defRPr b="1" sz="1000">
                <a:solidFill>
                  <a:srgbClr val="F59E0B"/>
                </a:solidFill>
              </a:defRPr>
            </a:pPr>
            <a:r>
              <a:t>•  CRO 'What-If' Overrides:</a:t>
            </a:r>
          </a:p>
          <a:p>
            <a:pPr>
              <a:spcBef>
                <a:spcPts val="100"/>
              </a:spcBef>
              <a:defRPr sz="880">
                <a:solidFill>
                  <a:srgbClr val="F2F4F8"/>
                </a:solidFill>
              </a:defRPr>
            </a:pPr>
            <a:r>
              <a:t>Sliders dynamically synced to the event shock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S&amp;P GLOBAL × CRISIL CAMPUS HACKATHON 2026 // 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F4F8"/>
                </a:solidFill>
                <a:latin typeface="Arial"/>
              </a:defRPr>
            </a:pPr>
            <a:r>
              <a:t>Institutional Domain Impact, AI Copilot &amp; Strategic Roadmap</a:t>
            </a:r>
          </a:p>
        </p:txBody>
      </p:sp>
      <p:pic>
        <p:nvPicPr>
          <p:cNvPr id="5" name="Picture 4" descr="shot_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93192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6320" y="1417320"/>
            <a:ext cx="6583680" cy="2468880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Institutional Business Value &amp; Domain Impact</a:t>
            </a:r>
          </a:p>
          <a:p>
            <a:pPr>
              <a:spcBef>
                <a:spcPts val="500"/>
              </a:spcBef>
              <a:defRPr sz="950">
                <a:solidFill>
                  <a:srgbClr val="F2F4F8"/>
                </a:solidFill>
              </a:defRPr>
            </a:pPr>
            <a:r>
              <a:t>• Pre-Emptive Counterparty Protection: Detects acute geopolitical and credit contagion 3 to 14 days before credit rating agency actions.</a:t>
            </a:r>
          </a:p>
          <a:p>
            <a:pPr>
              <a:spcBef>
                <a:spcPts val="400"/>
              </a:spcBef>
              <a:defRPr sz="950">
                <a:solidFill>
                  <a:srgbClr val="F2F4F8"/>
                </a:solidFill>
              </a:defRPr>
            </a:pPr>
            <a:r>
              <a:t>• Unifying Risk &amp; Alpha: Bridges quantitative equity managers (tactical rebalancing) and wholesale credit officers (Basel III stress testing) onto a single source of qualitative truth.</a:t>
            </a:r>
          </a:p>
          <a:p>
            <a:pPr>
              <a:spcBef>
                <a:spcPts val="400"/>
              </a:spcBef>
              <a:defRPr sz="950">
                <a:solidFill>
                  <a:srgbClr val="F2F4F8"/>
                </a:solidFill>
              </a:defRPr>
            </a:pPr>
            <a:r>
              <a:t>• AI Copilot Vision &amp; Mathematical Proof: Risk committees can verify dashboard figures with chart snapshot analysis and Merton Expected Loss formulations.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4069080"/>
          <a:ext cx="6583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1120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Phase 1: MVP (Done)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Phase 2: Scale (Q2 2026)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Phase 3: DMA (Q3 2026)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Phase 4: Multimodal (Q4)</a:t>
                      </a:r>
                    </a:p>
                  </a:txBody>
                  <a:tcPr>
                    <a:solidFill>
                      <a:srgbClr val="161A26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Dual downstream modules + sub-25ms NLP + live crisis simulation.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Scale to 5,000+ global equities with distributed Celery &amp; Redis.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Direct Market Access (DMA) FIX protocol order routing into dark pools.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2F4F8"/>
                          </a:solidFill>
                        </a:defRPr>
                      </a:pPr>
                      <a:r>
                        <a:t>SEC 10-K filing parser + central bank press conference audio transcription.</a:t>
                      </a:r>
                    </a:p>
                  </a:txBody>
                  <a:tcPr>
                    <a:solidFill>
                      <a:srgbClr val="1C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