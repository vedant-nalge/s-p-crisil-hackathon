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S&amp;P GLOBAL × CRISIL CAMPUS HACKATHON 2026 // CASE STUDY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2F4F8"/>
                </a:solidFill>
              </a:defRPr>
            </a:pPr>
            <a:r>
              <a:t>AI/NLP Financial Risk Engine &amp; Dual Downstream Intelligence Platform</a:t>
            </a:r>
          </a:p>
          <a:p>
            <a:pPr>
              <a:spcBef>
                <a:spcPts val="400"/>
              </a:spcBef>
              <a:defRPr sz="1250">
                <a:solidFill>
                  <a:srgbClr val="38BDF8"/>
                </a:solidFill>
              </a:defRPr>
            </a:pPr>
            <a:r>
              <a:t>A Multi-Source Unstructured Text Pipeline Driving Tactical Index Rebalancing &amp; Wholesale Banking Stress Testing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11680"/>
          <a:ext cx="10698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13816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59E0B"/>
                          </a:solidFill>
                        </a:defRPr>
                      </a:pPr>
                      <a:r>
                        <a:t>Candidate Name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2F4F8"/>
                          </a:solidFill>
                        </a:defRPr>
                      </a:pPr>
                      <a:r>
                        <a:t>Vedant Dilip Nalge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59E0B"/>
                          </a:solidFill>
                        </a:defRPr>
                      </a:pPr>
                      <a:r>
                        <a:t>College / Campus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2F4F8"/>
                          </a:solidFill>
                        </a:defRPr>
                      </a:pPr>
                      <a:r>
                        <a:t>Indian Institute of Technology Madras (IIT Madras) • me22b162@smail.iitm.ac.in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59E0B"/>
                          </a:solidFill>
                        </a:defRPr>
                      </a:pPr>
                      <a:r>
                        <a:t>Target Track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2F4F8"/>
                          </a:solidFill>
                        </a:defRPr>
                      </a:pPr>
                      <a:r>
                        <a:t>AI/NLP Financial Risk Engine (FinBERT Continuous Sentiment &amp; 6-Taxonomy Classifier)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59E0B"/>
                          </a:solidFill>
                        </a:defRPr>
                      </a:pPr>
                      <a:r>
                        <a:t>Downstream Implementations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2F4F8"/>
                          </a:solidFill>
                        </a:defRPr>
                      </a:pPr>
                      <a:r>
                        <a:t>Dual Delivery: Module A (Tactical Index Rebalancer) &amp; Module B (Wholesale Portfolio Stress Tester)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user_sho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0"/>
            <a:ext cx="1069848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Business Problem &amp; Solution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320040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The Financial Industry Problem</a:t>
            </a:r>
          </a:p>
          <a:p>
            <a:pPr>
              <a:spcBef>
                <a:spcPts val="1200"/>
              </a:spcBef>
              <a:defRPr b="1" sz="1100">
                <a:solidFill>
                  <a:srgbClr val="F59E0B"/>
                </a:solidFill>
              </a:defRPr>
            </a:pPr>
            <a:r>
              <a:t>•  Lagged Quantitative Disclosures: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Traditional institutional risk engines rely on quarterly 10-K filings and delayed rating agency revisions, leaving portfolios vulnerable to fast-moving narrative shocks.</a:t>
            </a:r>
          </a:p>
          <a:p>
            <a:pPr>
              <a:spcBef>
                <a:spcPts val="1200"/>
              </a:spcBef>
              <a:defRPr b="1" sz="1100">
                <a:solidFill>
                  <a:srgbClr val="F59E0B"/>
                </a:solidFill>
              </a:defRPr>
            </a:pPr>
            <a:r>
              <a:t>•  Unstructured Text Deluge: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Asset managers and risk officers process millions of news wires, press releases, and retail messages daily without automated, machine-readable quantification.</a:t>
            </a:r>
          </a:p>
          <a:p>
            <a:pPr>
              <a:spcBef>
                <a:spcPts val="1200"/>
              </a:spcBef>
              <a:defRPr b="1" sz="1100">
                <a:solidFill>
                  <a:srgbClr val="F59E0B"/>
                </a:solidFill>
              </a:defRPr>
            </a:pPr>
            <a:r>
              <a:t>•  Fragmented Decision Silos: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Market risk (tactical equity managers) and credit risk (wholesale banking CROs) operate on separate systems, preventing unified cross-asset crisis management.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320040" wrap="square"/>
          <a:lstStyle/>
          <a:p>
            <a:pPr algn="ctr">
              <a:defRPr sz="1500" b="1">
                <a:solidFill>
                  <a:srgbClr val="35C471"/>
                </a:solidFill>
              </a:defRPr>
            </a:pPr>
            <a:r>
              <a:t>Our AI/NLP Solution Approach</a:t>
            </a:r>
          </a:p>
          <a:p>
            <a:pPr>
              <a:spcBef>
                <a:spcPts val="1200"/>
              </a:spcBef>
              <a:defRPr b="1" sz="1100">
                <a:solidFill>
                  <a:srgbClr val="38BDF8"/>
                </a:solidFill>
              </a:defRPr>
            </a:pPr>
            <a:r>
              <a:t>•  Continuous Multi-Source Ingestion: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Streams live financial news (Yahoo Finance RSS) and high-velocity retail sentiment (StockTwits API) with sub-25ms end-to-end processing.</a:t>
            </a:r>
          </a:p>
          <a:p>
            <a:pPr>
              <a:spcBef>
                <a:spcPts val="1200"/>
              </a:spcBef>
              <a:defRPr b="1" sz="1100">
                <a:solidFill>
                  <a:srgbClr val="38BDF8"/>
                </a:solidFill>
              </a:defRPr>
            </a:pPr>
            <a:r>
              <a:t>•  Tri-Factor Risk Telemetry: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Converts unstructured text into 3 calibrated signals: continuous Sentiment (-1.0 to +1.0), 6-class Financial Taxonomy, and Impact Severity (1 to 10).</a:t>
            </a:r>
          </a:p>
          <a:p>
            <a:pPr>
              <a:spcBef>
                <a:spcPts val="1200"/>
              </a:spcBef>
              <a:defRPr b="1" sz="1100">
                <a:solidFill>
                  <a:srgbClr val="38BDF8"/>
                </a:solidFill>
              </a:defRPr>
            </a:pPr>
            <a:r>
              <a:t>•  Synchronous Dual Downstream Cascade:</a:t>
            </a:r>
          </a:p>
          <a:p>
            <a:pPr>
              <a:spcBef>
                <a:spcPts val="300"/>
              </a:spcBef>
              <a:defRPr sz="1000">
                <a:solidFill>
                  <a:srgbClr val="F2F4F8"/>
                </a:solidFill>
              </a:defRPr>
            </a:pPr>
            <a:r>
              <a:t>Directly drives Module A (Tactical Index Rebalancer with 1%-18% bounds) and Module B (Wholesale Banking Stress Tester across $1.0B book) simultaneously.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System Design &amp; End-to-End 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463040"/>
          <a:ext cx="4297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</a:tblGrid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1. Ingestion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Yahoo RSS + StockTwits REST + 6 Curated Historical Crisis Replayers for deterministic jury review.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2. NLP Core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FinBERT + Loughran-McDonald sentiment, entity detection, and 6-class taxonomy categorizer.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3. Storage &amp; API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FastAPI asynchronous REST gateway + SQLite ACID relational DB with JWT auth.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4. Module A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Dynamic quadratic optimizer across 15 blue-chips with turnover and alpha tracking.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59E0B"/>
                          </a:solidFill>
                        </a:defRPr>
                      </a:pPr>
                      <a:r>
                        <a:t>5. Module B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2F4F8"/>
                          </a:solidFill>
                        </a:defRPr>
                      </a:pPr>
                      <a:r>
                        <a:t>Basel III Expected Loss for loans ($550M), duration-convexity for bonds ($450M), and DV01 for swaps ($250M).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Live Simulation Case Study: Ingesting Real-World Geopolitical News</a:t>
            </a:r>
          </a:p>
        </p:txBody>
      </p:sp>
      <p:pic>
        <p:nvPicPr>
          <p:cNvPr id="5" name="Picture 4" descr="user_shot_news_zelensk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463040"/>
            <a:ext cx="42976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Live Ingestion Telemetry: Zelenskyy Headline</a:t>
            </a:r>
          </a:p>
          <a:p>
            <a:pPr>
              <a:spcBef>
                <a:spcPts val="1000"/>
              </a:spcBef>
              <a:defRPr b="1" sz="1050">
                <a:solidFill>
                  <a:srgbClr val="38BDF8"/>
                </a:solidFill>
              </a:defRPr>
            </a:pPr>
            <a:r>
              <a:t>1. Ingested News Wire Headline</a:t>
            </a:r>
          </a:p>
          <a:p>
            <a:pPr>
              <a:spcBef>
                <a:spcPts val="300"/>
              </a:spcBef>
              <a:defRPr sz="950">
                <a:solidFill>
                  <a:srgbClr val="F2F4F8"/>
                </a:solidFill>
              </a:defRPr>
            </a:pPr>
            <a:r>
              <a:t>Seeking Alpha (14m ago): 'Zelenskyy says Trump's Russia-Ukraine energy ceasefire deal was a surprise: Axios'</a:t>
            </a:r>
            <a:br/>
            <a:r>
              <a:t>Parsed directly from multi-source institutional financial wire.</a:t>
            </a:r>
          </a:p>
          <a:p>
            <a:pPr>
              <a:spcBef>
                <a:spcPts val="1000"/>
              </a:spcBef>
              <a:defRPr b="1" sz="1050">
                <a:solidFill>
                  <a:srgbClr val="38BDF8"/>
                </a:solidFill>
              </a:defRPr>
            </a:pPr>
            <a:r>
              <a:t>2. Automated Entity &amp; Ticker Detection</a:t>
            </a:r>
          </a:p>
          <a:p>
            <a:pPr>
              <a:spcBef>
                <a:spcPts val="300"/>
              </a:spcBef>
              <a:defRPr sz="950">
                <a:solidFill>
                  <a:srgbClr val="F2F4F8"/>
                </a:solidFill>
              </a:defRPr>
            </a:pPr>
            <a:r>
              <a:t>• Entity Identified: ExxonMobil (XOM), Energy Sector, Sovereign Macro</a:t>
            </a:r>
            <a:br/>
            <a:r>
              <a:t>• Ingestion-to-Inference Latency: ~22ms</a:t>
            </a:r>
            <a:br/>
            <a:r>
              <a:t>• Zero manual tag input required from user.</a:t>
            </a:r>
          </a:p>
          <a:p>
            <a:pPr>
              <a:spcBef>
                <a:spcPts val="1000"/>
              </a:spcBef>
              <a:defRPr b="1" sz="1050">
                <a:solidFill>
                  <a:srgbClr val="38BDF8"/>
                </a:solidFill>
              </a:defRPr>
            </a:pPr>
            <a:r>
              <a:t>3. AI/NLP Inference Engine</a:t>
            </a:r>
          </a:p>
          <a:p>
            <a:pPr>
              <a:spcBef>
                <a:spcPts val="300"/>
              </a:spcBef>
              <a:defRPr sz="950">
                <a:solidFill>
                  <a:srgbClr val="F2F4F8"/>
                </a:solidFill>
              </a:defRPr>
            </a:pPr>
            <a:r>
              <a:t>• Classification: Geopolitical / Energy Transition Event</a:t>
            </a:r>
            <a:br/>
            <a:r>
              <a:t>• Directional Sentiment: Evaluates ceasefire narrative impact on crude benchmarks &amp; defensive energy stocks.</a:t>
            </a:r>
            <a:br/>
            <a:r>
              <a:t>• Severity Trigger: Cascades immediately into downstream rebalancing &amp; wholesale capital stress.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Downstream Module A: Dynamic Tactical Index Rebalancing</a:t>
            </a:r>
          </a:p>
        </p:txBody>
      </p:sp>
      <p:pic>
        <p:nvPicPr>
          <p:cNvPr id="5" name="Picture 4" descr="user_shot_module_a_zelensk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463040"/>
            <a:ext cx="42976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wrap="square"/>
          <a:lstStyle/>
          <a:p>
            <a:pPr algn="ctr">
              <a:defRPr sz="1400" b="1">
                <a:solidFill>
                  <a:srgbClr val="35C471"/>
                </a:solidFill>
              </a:defRPr>
            </a:pPr>
            <a:r>
              <a:t>Module A Live Simulation Results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Live Rebalance Confirmation: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Banner: 'Live Rebalance Applied: Constituent weights rebalanced after Zelenskyy says Trump's Russia-Ukraine energy cea...' (Normalized to 100%).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Strategy Alpha &amp; Turnover: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• Strategy Alpha: +5.0 bps generated.</a:t>
            </a:r>
            <a:br/>
            <a:r>
              <a:t>• Portfolio Turnover: 0.25% (disciplined institutional friction control).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Tactical Weight Tilts (Core 15):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• AAPL: 17.85% (upper regulatory bound)</a:t>
            </a:r>
            <a:br/>
            <a:r>
              <a:t>• JPM: 17.85% | MSFT: 16.48% | NVDA: 13.04%</a:t>
            </a:r>
            <a:br/>
            <a:r>
              <a:t>• XOM: 4.80% | TSLA: 1.60% | AMZN: 1.04%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Regulatory Bounding Enforced: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All 15 constituent weights strictly clamped inside regulatory risk bounds [1.0%, 18.0%].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Real-Time Visual Synchronization: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Sector Donut and Cumulative Alpha Line (+5.0 bps) instantly updated upon news ingestion.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Downstream Module B: Wholesale Portfolio Stress Testing ($1.0B Book)</a:t>
            </a:r>
          </a:p>
        </p:txBody>
      </p:sp>
      <p:pic>
        <p:nvPicPr>
          <p:cNvPr id="5" name="Picture 4" descr="user_shot_module_b_zelensk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463040"/>
            <a:ext cx="4297680" cy="47548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wrap="square"/>
          <a:lstStyle/>
          <a:p>
            <a:pPr algn="ctr">
              <a:defRPr sz="1400" b="1">
                <a:solidFill>
                  <a:srgbClr val="EF4444"/>
                </a:solidFill>
              </a:defRPr>
            </a:pPr>
            <a:r>
              <a:t>Module B Live Stress Results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Wholesale Credit Book Baseline: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Synthetic $1,000.0M ($1.0B) book across 15 wholesale facilities: $550M Commercial Loans, $450M Corporate Bonds, $250M Derivatives.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Multi-Factor Shocks Calibrated: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• Yield Shift (Δy): -4 bps</a:t>
            </a:r>
            <a:br/>
            <a:r>
              <a:t>• Credit Spread Widening (Δs): +10 bps</a:t>
            </a:r>
            <a:br/>
            <a:r>
              <a:t>• Basel PD Multiplier: 1.02x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Valuation Shock &amp; Degradation Waterfall: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• Pre-Stress Book Valuation: $1000.0M</a:t>
            </a:r>
            <a:br/>
            <a:r>
              <a:t>• Stressed Capital Loss: -$1.7M (-0.17% Drawdown)</a:t>
            </a:r>
            <a:br/>
            <a:r>
              <a:t>• Post-Stress Capital: $998.3M (99.83% Retained)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Basel III Capital Adequacy Preserved: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Capital buffer remains safely above 8.0% Basel III floor. Retains $998.3M of regulatory Tier-1 capital.</a:t>
            </a:r>
          </a:p>
          <a:p>
            <a:pPr>
              <a:spcBef>
                <a:spcPts val="600"/>
              </a:spcBef>
              <a:defRPr b="1" sz="1000">
                <a:solidFill>
                  <a:srgbClr val="F59E0B"/>
                </a:solidFill>
              </a:defRPr>
            </a:pPr>
            <a:r>
              <a:t>•  CRO 'What-If' Sandbox Overrides:</a:t>
            </a:r>
          </a:p>
          <a:p>
            <a:pPr>
              <a:spcBef>
                <a:spcPts val="200"/>
              </a:spcBef>
              <a:defRPr sz="900">
                <a:solidFill>
                  <a:srgbClr val="F2F4F8"/>
                </a:solidFill>
              </a:defRPr>
            </a:pPr>
            <a:r>
              <a:t>Sliders dynamically synced to event parameters, allowing risk committees to run custom sensitivity checks.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2F4F8"/>
                </a:solidFill>
                <a:latin typeface="Arial"/>
              </a:defRPr>
            </a:pPr>
            <a:r>
              <a:t>AI Copilot Intelligence, Domain Impact &amp; Roadmap</a:t>
            </a:r>
          </a:p>
        </p:txBody>
      </p:sp>
      <p:pic>
        <p:nvPicPr>
          <p:cNvPr id="5" name="Picture 4" descr="user_shot_co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4114800" cy="4754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0" y="1463040"/>
            <a:ext cx="6400800" cy="228600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Institutional Value &amp; Domain Impact</a:t>
            </a:r>
          </a:p>
          <a:p>
            <a:pPr>
              <a:spcBef>
                <a:spcPts val="600"/>
              </a:spcBef>
              <a:defRPr sz="1000">
                <a:solidFill>
                  <a:srgbClr val="F2F4F8"/>
                </a:solidFill>
              </a:defRPr>
            </a:pPr>
            <a:r>
              <a:t>• Early Contagion Warning: Detects credit distress 3 to 14 days before rating agency downgrades.</a:t>
            </a:r>
          </a:p>
          <a:p>
            <a:pPr>
              <a:spcBef>
                <a:spcPts val="400"/>
              </a:spcBef>
              <a:defRPr sz="1000">
                <a:solidFill>
                  <a:srgbClr val="F2F4F8"/>
                </a:solidFill>
              </a:defRPr>
            </a:pPr>
            <a:r>
              <a:t>• Cross-Asset Silo Breakdown: Provides a unified qualitative truth connecting equity PMs and credit CROs.</a:t>
            </a:r>
          </a:p>
          <a:p>
            <a:pPr>
              <a:spcBef>
                <a:spcPts val="400"/>
              </a:spcBef>
              <a:defRPr sz="1000">
                <a:solidFill>
                  <a:srgbClr val="F2F4F8"/>
                </a:solidFill>
              </a:defRPr>
            </a:pPr>
            <a:r>
              <a:t>• AI Copilot Vision: Features real-time chart snapshot reasoning and mathematical formula verification.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0" y="3931920"/>
          <a:ext cx="6400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1143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1: MVP (Done)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2: Scale (Q2 2026)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3: DMA (Q3 2026)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59E0B"/>
                          </a:solidFill>
                        </a:defRPr>
                      </a:pPr>
                      <a:r>
                        <a:t>Phase 4: Multimodal (Q4)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Dual downstream + sub-25ms NLP + ISTC cockpit UI.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Scale to 5,000+ global tickers with Celery / Redis.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FIX protocol order routing to dark pools.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2F4F8"/>
                          </a:solidFill>
                        </a:defRPr>
                      </a:pPr>
                      <a:r>
                        <a:t>SEC 10-K parser + FOMC speech transcription.</a:t>
                      </a:r>
                    </a:p>
                  </a:txBody>
                  <a:tcPr>
                    <a:solidFill>
                      <a:srgbClr val="1C21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