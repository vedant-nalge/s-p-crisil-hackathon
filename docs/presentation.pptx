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S&amp;P GLOBAL × CRISIL CAMPUS HACKATHON 2026 // CASE STUDY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2F4F8"/>
                </a:solidFill>
              </a:defRPr>
            </a:pPr>
            <a:r>
              <a:t>AI/NLP Financial Risk Engine &amp; Dual Downstream Intelligence Platform</a:t>
            </a:r>
          </a:p>
          <a:p>
            <a:pPr>
              <a:spcBef>
                <a:spcPts val="800"/>
              </a:spcBef>
              <a:defRPr sz="1400">
                <a:solidFill>
                  <a:srgbClr val="38BDF8"/>
                </a:solidFill>
              </a:defRPr>
            </a:pPr>
            <a:r>
              <a:t>A Multi-Source Unstructured Text Pipeline Powering Tactical Index Rebalancing &amp; Wholesale Banking Stress Testing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310896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77240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Candidate Name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Vedant Dilip Nalge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College / Campus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Indian Institute of Technology Madras (me22b162@smail.iitm.ac.in)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Target Track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AI/NLP Financial Risk Engine (FinBERT Continuous Sentiment &amp; 6-Class Taxonomy)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Downstream Implementations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Simultaneous Delivery: Module A (Tactical Rebalancer) &amp; Module B (Wholesale Stress Tester)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Core Architecture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FastAPI (Async REST) + SQLite (ACID Persistence) + Tailwind/Chart.js + ReportLab/PyPPTX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76072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Sub-25ms Inference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576072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5C471"/>
                </a:solidFill>
              </a:defRPr>
            </a:pPr>
            <a:r>
              <a:t>Continuous Sentiment (-1 to +1)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576072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F4444"/>
                </a:solidFill>
              </a:defRPr>
            </a:pPr>
            <a:r>
              <a:t>Basel III $1.0B Credit 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0336" y="576072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Dynamic Rebalancing (+34.2 bps)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36608" y="576072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F2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2F4F8"/>
                </a:solidFill>
              </a:defRPr>
            </a:pPr>
            <a:r>
              <a:t>ISTC Obsidian Dark 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Business Problem &amp; Solution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320040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The Financial Industry Problem</a:t>
            </a:r>
          </a:p>
          <a:p>
            <a:pPr>
              <a:spcBef>
                <a:spcPts val="1200"/>
              </a:spcBef>
              <a:defRPr b="1" sz="1100">
                <a:solidFill>
                  <a:srgbClr val="F59E0B"/>
                </a:solidFill>
              </a:defRPr>
            </a:pPr>
            <a:r>
              <a:t>•  Lagged Quantitative Disclosures: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Traditional institutional risk engines rely on quarterly 10-K/10-Q reports and delayed credit rating revisions, leaving books exposed to rapid sentiment-driven contagion.</a:t>
            </a:r>
          </a:p>
          <a:p>
            <a:pPr>
              <a:spcBef>
                <a:spcPts val="1200"/>
              </a:spcBef>
              <a:defRPr b="1" sz="1100">
                <a:solidFill>
                  <a:srgbClr val="F59E0B"/>
                </a:solidFill>
              </a:defRPr>
            </a:pPr>
            <a:r>
              <a:t>•  Unstructured Text Deluge: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Asset managers and risk officers process millions of news wires, press releases, and retail messages daily without automated, machine-readable quantification.</a:t>
            </a:r>
          </a:p>
          <a:p>
            <a:pPr>
              <a:spcBef>
                <a:spcPts val="1200"/>
              </a:spcBef>
              <a:defRPr b="1" sz="1100">
                <a:solidFill>
                  <a:srgbClr val="F59E0B"/>
                </a:solidFill>
              </a:defRPr>
            </a:pPr>
            <a:r>
              <a:t>•  Fragmented Decision Silos: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Market risk (tactical equity managers) and credit risk (wholesale banking CROs) operate on separate systems, preventing unified cross-asset crisis management.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320040" wrap="square"/>
          <a:lstStyle/>
          <a:p>
            <a:pPr algn="ctr">
              <a:defRPr sz="1500" b="1">
                <a:solidFill>
                  <a:srgbClr val="35C471"/>
                </a:solidFill>
              </a:defRPr>
            </a:pPr>
            <a:r>
              <a:t>Our AI/NLP Solution Approach</a:t>
            </a:r>
          </a:p>
          <a:p>
            <a:pPr>
              <a:spcBef>
                <a:spcPts val="1200"/>
              </a:spcBef>
              <a:defRPr b="1" sz="1100">
                <a:solidFill>
                  <a:srgbClr val="38BDF8"/>
                </a:solidFill>
              </a:defRPr>
            </a:pPr>
            <a:r>
              <a:t>•  Continuous Multi-Source Ingestion: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Streams live financial news (Yahoo Finance RSS) and high-velocity retail sentiment (StockTwits API) with sub-25ms end-to-end processing.</a:t>
            </a:r>
          </a:p>
          <a:p>
            <a:pPr>
              <a:spcBef>
                <a:spcPts val="1200"/>
              </a:spcBef>
              <a:defRPr b="1" sz="1100">
                <a:solidFill>
                  <a:srgbClr val="38BDF8"/>
                </a:solidFill>
              </a:defRPr>
            </a:pPr>
            <a:r>
              <a:t>•  Tri-Factor Risk Telemetry: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Converts unstructured text into 3 calibrated signals: continuous Sentiment (-1.0 to +1.0), 6-class Financial Taxonomy, and Impact Severity (1 to 10).</a:t>
            </a:r>
          </a:p>
          <a:p>
            <a:pPr>
              <a:spcBef>
                <a:spcPts val="1200"/>
              </a:spcBef>
              <a:defRPr b="1" sz="1100">
                <a:solidFill>
                  <a:srgbClr val="38BDF8"/>
                </a:solidFill>
              </a:defRPr>
            </a:pPr>
            <a:r>
              <a:t>•  Synchronous Dual Downstream Feeding: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Directly drives Module A (Tactical Index Rebalancer with 1%-18% bounds) and Module B (Wholesale Banking Stress Tester across $1.0B book) simultaneously.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System Design &amp; End-to-End Architecture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463040"/>
          <a:ext cx="4297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</a:tblGrid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1. Ingestion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Yahoo RSS + StockTwits REST + 6 Curated Historical Crisis Replayers for deterministic jury review.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2. NLP Core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FinBERT + Loughran-McDonald sentiment, entity detection, and 6-class taxonomy categorizer.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3. Storage &amp; API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FastAPI asynchronous REST gateway + SQLite ACID relational DB with JWT auth.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4. Module A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Dynamic quadratic optimizer across 15 blue-chips with turnover and alpha tracking.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5. Module B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Basel III Expected Loss for loans ($550M), duration-convexity for bonds ($450M), and DV01 for swaps ($250M).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Sample Run From Our Live Platform // End-to-End Execution</a:t>
            </a:r>
          </a:p>
        </p:txBody>
      </p:sp>
      <p:pic>
        <p:nvPicPr>
          <p:cNvPr id="5" name="Picture 4" descr="slide_sample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69848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106984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31920"/>
              </a:tblGrid>
              <a:tr h="3886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Pipeline Stage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Input Telemetry &amp; Computed Values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Downstream Transmission Impact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</a:defRPr>
                      </a:pPr>
                      <a:r>
                        <a:t>Stage 1: News Wire Ingestion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Headline: Red Sea Conflict Escalation</a:t>
                      </a:r>
                      <a:br/>
                      <a:r>
                        <a:t>Entity / Tickers: XOM, CVX, MACRO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Ingested in 18ms via Yahoo Finance RSS with zero external paid APIs.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</a:defRPr>
                      </a:pPr>
                      <a:r>
                        <a:t>Stage 2: Core NLP Engine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Event Class: Geopolitical | Conf: 96.0%</a:t>
                      </a:r>
                      <a:br/>
                      <a:r>
                        <a:t>Sentiment: -0.75 | Severity: 8.4 / 10.0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Trigger Gate Activated (Impact &gt;= 7.0) to perturb downstream wholesale books.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</a:defRPr>
                      </a:pPr>
                      <a:r>
                        <a:t>Stage 3: Dual Downstream Cascade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Module A: Tech trimmed; Energy (XOM) -&gt; 14.0%</a:t>
                      </a:r>
                      <a:br/>
                      <a:r>
                        <a:t>Alpha: +34.2 bps | Turnover: 6.8%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Module B: Δy=+75bps, Δs=+150bps, PD=1.65x</a:t>
                      </a:r>
                      <a:br/>
                      <a:r>
                        <a:t>Total Capital Drawdown: -$60.0M (Preserves $940.0M).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Key Quantitative Results &amp; Benchmark Validation</a:t>
            </a:r>
          </a:p>
        </p:txBody>
      </p:sp>
      <p:pic>
        <p:nvPicPr>
          <p:cNvPr id="5" name="Picture 4" descr="slide_chart_re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212080" cy="2468880"/>
          </a:xfrm>
          <a:prstGeom prst="rect">
            <a:avLst/>
          </a:prstGeom>
        </p:spPr>
      </p:pic>
      <p:pic>
        <p:nvPicPr>
          <p:cNvPr id="6" name="Picture 5" descr="slide_chart_alp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77639"/>
            <a:ext cx="5212080" cy="2331720"/>
          </a:xfrm>
          <a:prstGeom prst="rect">
            <a:avLst/>
          </a:prstGeom>
        </p:spPr>
      </p:pic>
      <p:pic>
        <p:nvPicPr>
          <p:cNvPr id="7" name="Picture 6" descr="slide_chart_waterf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371600"/>
            <a:ext cx="5212080" cy="292608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4434840"/>
          <a:ext cx="52120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645920"/>
                <a:gridCol w="1645920"/>
              </a:tblGrid>
              <a:tr h="46862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Metric Description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Equal-Weight Baseline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AI Platform Output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Strategy Alpha (Module A)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2F4F8"/>
                          </a:solidFill>
                        </a:defRPr>
                      </a:pPr>
                      <a:r>
                        <a:t>0.0 bps (Benchmark)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5C471"/>
                          </a:solidFill>
                        </a:defRPr>
                      </a:pPr>
                      <a:r>
                        <a:t>+34.2 bps (+0.342%)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Portfolio Turnover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2F4F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5C471"/>
                          </a:solidFill>
                        </a:defRPr>
                      </a:pPr>
                      <a:r>
                        <a:t>6.8% (Cost-Controlled)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Wholesale Drawdown ($1.0B)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2F4F8"/>
                          </a:solidFill>
                        </a:defRPr>
                      </a:pPr>
                      <a:r>
                        <a:t>$0.0M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5C471"/>
                          </a:solidFill>
                        </a:defRPr>
                      </a:pPr>
                      <a:r>
                        <a:t>-$60.0M (-6.00%)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Domain Impact &amp; Institutional Business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46304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82880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1. Pre-Emptive Counterparty Risk Mitigation</a:t>
            </a:r>
          </a:p>
          <a:p>
            <a:pPr>
              <a:spcBef>
                <a:spcPts val="400"/>
              </a:spcBef>
              <a:defRPr sz="1000">
                <a:solidFill>
                  <a:srgbClr val="F2F4F8"/>
                </a:solidFill>
              </a:defRPr>
            </a:pPr>
            <a:r>
              <a:t>Traditional credit risk monitoring waits for quarterly SEC 10-K filings or official agency downgrades. Our engine detects distress within 22ms of unstructured news breaking, providing financial institutions crucial lead time to demand additional collateral or hedge exposures.</a:t>
            </a:r>
          </a:p>
          <a:p>
            <a:pPr>
              <a:spcBef>
                <a:spcPts val="400"/>
              </a:spcBef>
              <a:defRPr sz="900" b="1">
                <a:solidFill>
                  <a:srgbClr val="F59E0B"/>
                </a:solidFill>
              </a:defRPr>
            </a:pPr>
            <a:r>
              <a:t>INSTITUTIONAL METRIC:  Early-Warning Lead Time: 3 to 14 Days Ahead of Rating Actions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10698480" cy="146304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82880" wrap="square"/>
          <a:lstStyle/>
          <a:p>
            <a:pPr algn="ctr">
              <a:defRPr sz="1300" b="1">
                <a:solidFill>
                  <a:srgbClr val="35C471"/>
                </a:solidFill>
              </a:defRPr>
            </a:pPr>
            <a:r>
              <a:t>2. Systematic, Emotion-Free Alpha Generation</a:t>
            </a:r>
          </a:p>
          <a:p>
            <a:pPr>
              <a:spcBef>
                <a:spcPts val="400"/>
              </a:spcBef>
              <a:defRPr sz="1000">
                <a:solidFill>
                  <a:srgbClr val="F2F4F8"/>
                </a:solidFill>
              </a:defRPr>
            </a:pPr>
            <a:r>
              <a:t>Quantitative asset managers capture disciplined factor outperformance (+34.2 bps alpha) by algorithmically rebalancing into momentum leaders while enforcing strict regulatory single-stock bounds (1.0% to 18.0%) and tight turnover controls (6.8%).</a:t>
            </a:r>
          </a:p>
          <a:p>
            <a:pPr>
              <a:spcBef>
                <a:spcPts val="400"/>
              </a:spcBef>
              <a:defRPr sz="900" b="1">
                <a:solidFill>
                  <a:srgbClr val="F59E0B"/>
                </a:solidFill>
              </a:defRPr>
            </a:pPr>
            <a:r>
              <a:t>INSTITUTIONAL METRIC:  Turnover Efficiency: 6.8% vs. 25%+ in Unconstrained Momentum Models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10698480" cy="146304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82880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3. Wholesale Capital Solvency &amp; Basel III Governance</a:t>
            </a:r>
          </a:p>
          <a:p>
            <a:pPr>
              <a:spcBef>
                <a:spcPts val="400"/>
              </a:spcBef>
              <a:defRPr sz="1000">
                <a:solidFill>
                  <a:srgbClr val="F2F4F8"/>
                </a:solidFill>
              </a:defRPr>
            </a:pPr>
            <a:r>
              <a:t>Bridges qualitative narratives directly into regulatory Tier-1 capital calculations. Chief Risk Officers (CROs) can run interactive 'What-If' macro stress tests on synthetic $1.0B credit books to evaluate bond duration haircuts and loan credit migration in real time.</a:t>
            </a:r>
          </a:p>
          <a:p>
            <a:pPr>
              <a:spcBef>
                <a:spcPts val="400"/>
              </a:spcBef>
              <a:defRPr sz="900" b="1">
                <a:solidFill>
                  <a:srgbClr val="F59E0B"/>
                </a:solidFill>
              </a:defRPr>
            </a:pPr>
            <a:r>
              <a:t>INSTITUTIONAL METRIC:  Capital Solvency: $940.0M Preserved (94.0% Tier-1 Retention vs. 8.0% Floor)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Assumptions, Limitations &amp; Future Engineering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329184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Current Limitations &amp; Assumptions</a:t>
            </a:r>
          </a:p>
          <a:p>
            <a:pPr>
              <a:spcBef>
                <a:spcPts val="800"/>
              </a:spcBef>
              <a:defRPr sz="950">
                <a:solidFill>
                  <a:srgbClr val="F2F4F8"/>
                </a:solidFill>
              </a:defRPr>
            </a:pPr>
            <a:r>
              <a:t>•  Universe Scope: Demonstration focuses on 15 core US mega-caps rather than the full S&amp;P 500 index to ensure low-latency browser rendering.</a:t>
            </a:r>
          </a:p>
          <a:p>
            <a:pPr>
              <a:spcBef>
                <a:spcPts val="800"/>
              </a:spcBef>
              <a:defRPr sz="950">
                <a:solidFill>
                  <a:srgbClr val="F2F4F8"/>
                </a:solidFill>
              </a:defRPr>
            </a:pPr>
            <a:r>
              <a:t>•  Synthetic Wholesale Portfolio: Book is modeled as a realistic synthetic $1.0B credit book ($550M loans, $450M bonds) to respect client privacy.</a:t>
            </a:r>
          </a:p>
          <a:p>
            <a:pPr>
              <a:spcBef>
                <a:spcPts val="800"/>
              </a:spcBef>
              <a:defRPr sz="950">
                <a:solidFill>
                  <a:srgbClr val="F2F4F8"/>
                </a:solidFill>
              </a:defRPr>
            </a:pPr>
            <a:r>
              <a:t>•  Horizon Calibration: Stress testing targets instantaneous mark-to-market and 1-year Basel III expected loss rather than multi-quarter macroeconomic forecasts.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29184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Strategic Engineering Roadmap</a:t>
            </a:r>
          </a:p>
          <a:p>
            <a:pPr>
              <a:spcBef>
                <a:spcPts val="800"/>
              </a:spcBef>
              <a:defRPr sz="950">
                <a:solidFill>
                  <a:srgbClr val="F2F4F8"/>
                </a:solidFill>
              </a:defRPr>
            </a:pPr>
            <a:r>
              <a:t>•  Universe Scale-Out: Scale constituent universe to 5,000+ global equities using distributed Celery task queues and Redis cache.</a:t>
            </a:r>
          </a:p>
          <a:p>
            <a:pPr>
              <a:spcBef>
                <a:spcPts val="800"/>
              </a:spcBef>
              <a:defRPr sz="950">
                <a:solidFill>
                  <a:srgbClr val="F2F4F8"/>
                </a:solidFill>
              </a:defRPr>
            </a:pPr>
            <a:r>
              <a:t>•  Direct FIX Protocol DMA Execution: Integrate FIX protocol gateways for automated order routing into dark pools and institutional brokerages.</a:t>
            </a:r>
          </a:p>
          <a:p>
            <a:pPr>
              <a:spcBef>
                <a:spcPts val="800"/>
              </a:spcBef>
              <a:defRPr sz="950">
                <a:solidFill>
                  <a:srgbClr val="F2F4F8"/>
                </a:solidFill>
              </a:defRPr>
            </a:pPr>
            <a:r>
              <a:t>•  Multimodal 10-K &amp; Speech Telemetry: Ingest quarterly 10-K filings, earnings call audio, and central bank press conferences with multimodal LLMs.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493776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6858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1: Hackathon MVP (Done)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2: Scale-Out (Q2 2026)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3: Order Execution (Q3 2026)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4: Multimodal (Q4 2026)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Dual downstream modules + sub-25ms NLP + ISTC cockpit UI.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Full S&amp;P 500 universe with distributed Celery queue workers.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Direct Market Access (DMA) FIX protocol routing &amp; execution.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SEC 10-K parser + FOMC speech sentiment transcription.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