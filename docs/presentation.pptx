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S&amp;P GLOBAL × CRISIL CAMPUS HACKATHON 2026 // CASE STUDY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2F4F8"/>
                </a:solidFill>
              </a:defRPr>
            </a:pPr>
            <a:r>
              <a:t>AI/NLP Financial Risk Engine &amp; Dual Downstream Intelligence Platform</a:t>
            </a:r>
          </a:p>
          <a:p>
            <a:pPr>
              <a:spcBef>
                <a:spcPts val="800"/>
              </a:spcBef>
              <a:defRPr sz="1400">
                <a:solidFill>
                  <a:srgbClr val="38BDF8"/>
                </a:solidFill>
              </a:defRPr>
            </a:pPr>
            <a:r>
              <a:t>A Multi-Source Unstructured Text Pipeline Powering Tactical Index Rebalancing &amp; Wholesale Banking Stress Testing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3108960"/>
          <a:ext cx="106984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772400"/>
              </a:tblGrid>
              <a:tr h="47548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59E0B"/>
                          </a:solidFill>
                        </a:defRPr>
                      </a:pPr>
                      <a:r>
                        <a:t>Candidate Name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2F4F8"/>
                          </a:solidFill>
                        </a:defRPr>
                      </a:pPr>
                      <a:r>
                        <a:t>Vedant Dilip Nalge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59E0B"/>
                          </a:solidFill>
                        </a:defRPr>
                      </a:pPr>
                      <a:r>
                        <a:t>College / Campus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2F4F8"/>
                          </a:solidFill>
                        </a:defRPr>
                      </a:pPr>
                      <a:r>
                        <a:t>Indian Institute of Technology Madras (me22b162@smail.iitm.ac.in)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59E0B"/>
                          </a:solidFill>
                        </a:defRPr>
                      </a:pPr>
                      <a:r>
                        <a:t>Target Track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2F4F8"/>
                          </a:solidFill>
                        </a:defRPr>
                      </a:pPr>
                      <a:r>
                        <a:t>AI/NLP Financial Risk Engine (FinBERT Continuous Sentiment &amp; 6-Class Taxonomy)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59E0B"/>
                          </a:solidFill>
                        </a:defRPr>
                      </a:pPr>
                      <a:r>
                        <a:t>Downstream Implementations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2F4F8"/>
                          </a:solidFill>
                        </a:defRPr>
                      </a:pPr>
                      <a:r>
                        <a:t>Simultaneous Delivery: Module A (Tactical Rebalancer) &amp; Module B (Wholesale Stress Tester)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59E0B"/>
                          </a:solidFill>
                        </a:defRPr>
                      </a:pPr>
                      <a:r>
                        <a:t>Core Architecture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2F4F8"/>
                          </a:solidFill>
                        </a:defRPr>
                      </a:pPr>
                      <a:r>
                        <a:t>FastAPI (Async REST) + SQLite (ACID Persistence) + Tailwind/Chart.js + PyPPTX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5760720"/>
            <a:ext cx="2057400" cy="502920"/>
          </a:xfrm>
          <a:prstGeom prst="roundRect">
            <a:avLst/>
          </a:prstGeom>
          <a:solidFill>
            <a:srgbClr val="161A26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8BDF8"/>
                </a:solidFill>
              </a:defRPr>
            </a:pPr>
            <a:r>
              <a:t>Sub-25ms Inference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07791" y="5760720"/>
            <a:ext cx="2057400" cy="502920"/>
          </a:xfrm>
          <a:prstGeom prst="roundRect">
            <a:avLst/>
          </a:prstGeom>
          <a:solidFill>
            <a:srgbClr val="161A26"/>
          </a:solidFill>
          <a:ln w="12700">
            <a:solidFill>
              <a:srgbClr val="35C4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5C471"/>
                </a:solidFill>
              </a:defRPr>
            </a:pPr>
            <a:r>
              <a:t>Continuous Sentiment (-1 to +1)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4064" y="5760720"/>
            <a:ext cx="2057400" cy="502920"/>
          </a:xfrm>
          <a:prstGeom prst="roundRect">
            <a:avLst/>
          </a:prstGeom>
          <a:solidFill>
            <a:srgbClr val="161A26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EF4444"/>
                </a:solidFill>
              </a:defRPr>
            </a:pPr>
            <a:r>
              <a:t>Basel III $1.0B Credit Book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60336" y="5760720"/>
            <a:ext cx="2057400" cy="502920"/>
          </a:xfrm>
          <a:prstGeom prst="roundRect">
            <a:avLst/>
          </a:prstGeom>
          <a:solidFill>
            <a:srgbClr val="161A26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59E0B"/>
                </a:solidFill>
              </a:defRPr>
            </a:pPr>
            <a:r>
              <a:t>Dynamic Rebalancing (+34.2 bps)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36608" y="5760720"/>
            <a:ext cx="2057400" cy="502920"/>
          </a:xfrm>
          <a:prstGeom prst="roundRect">
            <a:avLst/>
          </a:prstGeom>
          <a:solidFill>
            <a:srgbClr val="161A26"/>
          </a:solidFill>
          <a:ln w="12700">
            <a:solidFill>
              <a:srgbClr val="F2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2F4F8"/>
                </a:solidFill>
              </a:defRPr>
            </a:pPr>
            <a:r>
              <a:t>ISTC Obsidian Dark UI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S&amp;P GLOBAL × CRISIL CAMPUS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2F4F8"/>
                </a:solidFill>
                <a:latin typeface="Arial"/>
              </a:defRPr>
            </a:pPr>
            <a:r>
              <a:t>Business Problem &amp; Solution Approach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320040" wrap="square"/>
          <a:lstStyle/>
          <a:p>
            <a:pPr algn="ctr">
              <a:defRPr sz="1500" b="1">
                <a:solidFill>
                  <a:srgbClr val="EF4444"/>
                </a:solidFill>
              </a:defRPr>
            </a:pPr>
            <a:r>
              <a:t>The Financial Industry Problem</a:t>
            </a:r>
          </a:p>
          <a:p>
            <a:pPr>
              <a:spcBef>
                <a:spcPts val="1200"/>
              </a:spcBef>
              <a:defRPr b="1" sz="1100">
                <a:solidFill>
                  <a:srgbClr val="F59E0B"/>
                </a:solidFill>
              </a:defRPr>
            </a:pPr>
            <a:r>
              <a:t>•  Lagged Quantitative Disclosures:</a:t>
            </a:r>
          </a:p>
          <a:p>
            <a:pPr>
              <a:spcBef>
                <a:spcPts val="300"/>
              </a:spcBef>
              <a:defRPr sz="1000">
                <a:solidFill>
                  <a:srgbClr val="F2F4F8"/>
                </a:solidFill>
              </a:defRPr>
            </a:pPr>
            <a:r>
              <a:t>Traditional institutional risk engines rely on quarterly 10-K/10-Q reports and delayed credit rating revisions, leaving books exposed to rapid sentiment-driven contagion.</a:t>
            </a:r>
          </a:p>
          <a:p>
            <a:pPr>
              <a:spcBef>
                <a:spcPts val="1200"/>
              </a:spcBef>
              <a:defRPr b="1" sz="1100">
                <a:solidFill>
                  <a:srgbClr val="F59E0B"/>
                </a:solidFill>
              </a:defRPr>
            </a:pPr>
            <a:r>
              <a:t>•  Unstructured Text Deluge:</a:t>
            </a:r>
          </a:p>
          <a:p>
            <a:pPr>
              <a:spcBef>
                <a:spcPts val="300"/>
              </a:spcBef>
              <a:defRPr sz="1000">
                <a:solidFill>
                  <a:srgbClr val="F2F4F8"/>
                </a:solidFill>
              </a:defRPr>
            </a:pPr>
            <a:r>
              <a:t>Asset managers and risk officers process millions of news wires, press releases, and retail messages daily without automated, machine-readable quantification.</a:t>
            </a:r>
          </a:p>
          <a:p>
            <a:pPr>
              <a:spcBef>
                <a:spcPts val="1200"/>
              </a:spcBef>
              <a:defRPr b="1" sz="1100">
                <a:solidFill>
                  <a:srgbClr val="F59E0B"/>
                </a:solidFill>
              </a:defRPr>
            </a:pPr>
            <a:r>
              <a:t>•  Fragmented Decision Silos:</a:t>
            </a:r>
          </a:p>
          <a:p>
            <a:pPr>
              <a:spcBef>
                <a:spcPts val="300"/>
              </a:spcBef>
              <a:defRPr sz="1000">
                <a:solidFill>
                  <a:srgbClr val="F2F4F8"/>
                </a:solidFill>
              </a:defRPr>
            </a:pPr>
            <a:r>
              <a:t>Market risk (tactical equity managers) and credit risk (wholesale banking CROs) operate on separate systems, preventing unified cross-asset crisis management.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35C4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320040" wrap="square"/>
          <a:lstStyle/>
          <a:p>
            <a:pPr algn="ctr">
              <a:defRPr sz="1500" b="1">
                <a:solidFill>
                  <a:srgbClr val="35C471"/>
                </a:solidFill>
              </a:defRPr>
            </a:pPr>
            <a:r>
              <a:t>Our AI/NLP Solution Approach</a:t>
            </a:r>
          </a:p>
          <a:p>
            <a:pPr>
              <a:spcBef>
                <a:spcPts val="1200"/>
              </a:spcBef>
              <a:defRPr b="1" sz="1100">
                <a:solidFill>
                  <a:srgbClr val="38BDF8"/>
                </a:solidFill>
              </a:defRPr>
            </a:pPr>
            <a:r>
              <a:t>•  Continuous Multi-Source Ingestion:</a:t>
            </a:r>
          </a:p>
          <a:p>
            <a:pPr>
              <a:spcBef>
                <a:spcPts val="300"/>
              </a:spcBef>
              <a:defRPr sz="1000">
                <a:solidFill>
                  <a:srgbClr val="F2F4F8"/>
                </a:solidFill>
              </a:defRPr>
            </a:pPr>
            <a:r>
              <a:t>Streams live financial news (Yahoo Finance RSS) and high-velocity retail sentiment (StockTwits API) with sub-25ms end-to-end processing.</a:t>
            </a:r>
          </a:p>
          <a:p>
            <a:pPr>
              <a:spcBef>
                <a:spcPts val="1200"/>
              </a:spcBef>
              <a:defRPr b="1" sz="1100">
                <a:solidFill>
                  <a:srgbClr val="38BDF8"/>
                </a:solidFill>
              </a:defRPr>
            </a:pPr>
            <a:r>
              <a:t>•  Tri-Factor Risk Telemetry:</a:t>
            </a:r>
          </a:p>
          <a:p>
            <a:pPr>
              <a:spcBef>
                <a:spcPts val="300"/>
              </a:spcBef>
              <a:defRPr sz="1000">
                <a:solidFill>
                  <a:srgbClr val="F2F4F8"/>
                </a:solidFill>
              </a:defRPr>
            </a:pPr>
            <a:r>
              <a:t>Converts unstructured text into 3 calibrated signals: continuous Sentiment (-1.0 to +1.0), 6-class Financial Taxonomy, and Impact Severity (1 to 10).</a:t>
            </a:r>
          </a:p>
          <a:p>
            <a:pPr>
              <a:spcBef>
                <a:spcPts val="1200"/>
              </a:spcBef>
              <a:defRPr b="1" sz="1100">
                <a:solidFill>
                  <a:srgbClr val="38BDF8"/>
                </a:solidFill>
              </a:defRPr>
            </a:pPr>
            <a:r>
              <a:t>•  Synchronous Dual Downstream Feeding:</a:t>
            </a:r>
          </a:p>
          <a:p>
            <a:pPr>
              <a:spcBef>
                <a:spcPts val="300"/>
              </a:spcBef>
              <a:defRPr sz="1000">
                <a:solidFill>
                  <a:srgbClr val="F2F4F8"/>
                </a:solidFill>
              </a:defRPr>
            </a:pPr>
            <a:r>
              <a:t>Directly drives Module A (Tactical Index Rebalancer with 1%-18% bounds) and Module B (Wholesale Banking Stress Tester across $1.0B book) simultaneously.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S&amp;P GLOBAL × CRISIL CAMPUS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2F4F8"/>
                </a:solidFill>
                <a:latin typeface="Arial"/>
              </a:defRPr>
            </a:pPr>
            <a:r>
              <a:t>System Design &amp; End-to-End Architecture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217920" cy="475488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0" y="1463040"/>
          <a:ext cx="42976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926080"/>
              </a:tblGrid>
              <a:tr h="950976"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59E0B"/>
                          </a:solidFill>
                        </a:defRPr>
                      </a:pPr>
                      <a:r>
                        <a:t>1. Ingestion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2F4F8"/>
                          </a:solidFill>
                        </a:defRPr>
                      </a:pPr>
                      <a:r>
                        <a:t>Yahoo RSS + StockTwits REST + 6 Curated Historical Crisis Replayers for deterministic jury review.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59E0B"/>
                          </a:solidFill>
                        </a:defRPr>
                      </a:pPr>
                      <a:r>
                        <a:t>2. NLP Core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2F4F8"/>
                          </a:solidFill>
                        </a:defRPr>
                      </a:pPr>
                      <a:r>
                        <a:t>FinBERT + Loughran-McDonald sentiment, entity detection, and 6-class taxonomy categorizer.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59E0B"/>
                          </a:solidFill>
                        </a:defRPr>
                      </a:pPr>
                      <a:r>
                        <a:t>3. Storage &amp; API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2F4F8"/>
                          </a:solidFill>
                        </a:defRPr>
                      </a:pPr>
                      <a:r>
                        <a:t>FastAPI asynchronous REST gateway + SQLite ACID relational DB with JWT auth.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59E0B"/>
                          </a:solidFill>
                        </a:defRPr>
                      </a:pPr>
                      <a:r>
                        <a:t>4. Module A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2F4F8"/>
                          </a:solidFill>
                        </a:defRPr>
                      </a:pPr>
                      <a:r>
                        <a:t>Dynamic quadratic optimizer across 15 blue-chips with turnover and alpha tracking.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59E0B"/>
                          </a:solidFill>
                        </a:defRPr>
                      </a:pPr>
                      <a:r>
                        <a:t>5. Module B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2F4F8"/>
                          </a:solidFill>
                        </a:defRPr>
                      </a:pPr>
                      <a:r>
                        <a:t>Basel III Expected Loss for loans ($550M), duration-convexity for bonds ($450M), and DV01 for swaps ($250M).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S&amp;P GLOBAL × CRISIL CAMPUS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2F4F8"/>
                </a:solidFill>
                <a:latin typeface="Arial"/>
              </a:defRPr>
            </a:pPr>
            <a:r>
              <a:t>Sample Run: Live Dashboard NLP Telemetry &amp; Inference</a:t>
            </a:r>
          </a:p>
        </p:txBody>
      </p:sp>
      <p:pic>
        <p:nvPicPr>
          <p:cNvPr id="5" name="Picture 4" descr="shot_telemetry_a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217920" cy="4754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32320" y="1463040"/>
            <a:ext cx="4297680" cy="4754880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274320" wrap="square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Actual Live Telemetry Execution</a:t>
            </a:r>
          </a:p>
          <a:p>
            <a:pPr>
              <a:spcBef>
                <a:spcPts val="1000"/>
              </a:spcBef>
              <a:defRPr b="1" sz="1100">
                <a:solidFill>
                  <a:srgbClr val="38BDF8"/>
                </a:solidFill>
              </a:defRPr>
            </a:pPr>
            <a:r>
              <a:t>1. Input Event Narrative</a:t>
            </a:r>
          </a:p>
          <a:p>
            <a:pPr>
              <a:spcBef>
                <a:spcPts val="300"/>
              </a:spcBef>
              <a:defRPr sz="950">
                <a:solidFill>
                  <a:srgbClr val="F2F4F8"/>
                </a:solidFill>
              </a:defRPr>
            </a:pPr>
            <a:r>
              <a:t>Headline: 'Middle East Maritime Conflict: Escalation in Red Sea Threatens Global Energy Corridors'</a:t>
            </a:r>
            <a:br/>
            <a:r>
              <a:t>Ingested in 18ms via Yahoo Finance RSS stream.</a:t>
            </a:r>
          </a:p>
          <a:p>
            <a:pPr>
              <a:spcBef>
                <a:spcPts val="1000"/>
              </a:spcBef>
              <a:defRPr b="1" sz="1100">
                <a:solidFill>
                  <a:srgbClr val="38BDF8"/>
                </a:solidFill>
              </a:defRPr>
            </a:pPr>
            <a:r>
              <a:t>2. AI NLP Telemetry Output</a:t>
            </a:r>
          </a:p>
          <a:p>
            <a:pPr>
              <a:spcBef>
                <a:spcPts val="300"/>
              </a:spcBef>
              <a:defRPr sz="950">
                <a:solidFill>
                  <a:srgbClr val="F2F4F8"/>
                </a:solidFill>
              </a:defRPr>
            </a:pPr>
            <a:r>
              <a:t>• Event Class: Geopolitical (96.0% Conf)</a:t>
            </a:r>
            <a:br/>
            <a:r>
              <a:t>• Sentiment Score: -0.75 (Bearish Defensives)</a:t>
            </a:r>
            <a:br/>
            <a:r>
              <a:t>• Severity Impact: 8.4 / 10.0 (Stress Trigger Gate Active)</a:t>
            </a:r>
            <a:br/>
            <a:r>
              <a:t>• Entities Detected: XOM, CVX, OIL, MACRO</a:t>
            </a:r>
          </a:p>
          <a:p>
            <a:pPr>
              <a:spcBef>
                <a:spcPts val="1000"/>
              </a:spcBef>
              <a:defRPr b="1" sz="1100">
                <a:solidFill>
                  <a:srgbClr val="38BDF8"/>
                </a:solidFill>
              </a:defRPr>
            </a:pPr>
            <a:r>
              <a:t>3. Dual Downstream Cascade</a:t>
            </a:r>
          </a:p>
          <a:p>
            <a:pPr>
              <a:spcBef>
                <a:spcPts val="300"/>
              </a:spcBef>
              <a:defRPr sz="950">
                <a:solidFill>
                  <a:srgbClr val="F2F4F8"/>
                </a:solidFill>
              </a:defRPr>
            </a:pPr>
            <a:r>
              <a:t>• Module A: Tech trimmed (-3.2%); Energy tilted (+4.8%)</a:t>
            </a:r>
            <a:br/>
            <a:r>
              <a:t>• Module B: Shocked by Δy=+75bps, Δs=+150bps, PD=1.65x</a:t>
            </a:r>
            <a:br/>
            <a:r>
              <a:t>• Capital Loss: -$60.0M (-6.00%) | Retained: $940.0M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S&amp;P GLOBAL × CRISIL CAMPUS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2F4F8"/>
                </a:solidFill>
                <a:latin typeface="Arial"/>
              </a:defRPr>
            </a:pPr>
            <a:r>
              <a:t>Module A: Tactical Index Rebalancer (Live Dashboard View)</a:t>
            </a:r>
          </a:p>
        </p:txBody>
      </p:sp>
      <p:pic>
        <p:nvPicPr>
          <p:cNvPr id="5" name="Picture 4" descr="shot_module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217920" cy="4754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32320" y="1463040"/>
            <a:ext cx="4297680" cy="4754880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35C4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274320" wrap="square"/>
          <a:lstStyle/>
          <a:p>
            <a:pPr algn="ctr">
              <a:defRPr sz="1400" b="1">
                <a:solidFill>
                  <a:srgbClr val="35C471"/>
                </a:solidFill>
              </a:defRPr>
            </a:pPr>
            <a:r>
              <a:t>Module A Quantitative Highlights</a:t>
            </a:r>
          </a:p>
          <a:p>
            <a:pPr>
              <a:spcBef>
                <a:spcPts val="800"/>
              </a:spcBef>
              <a:defRPr b="1" sz="1050">
                <a:solidFill>
                  <a:srgbClr val="F59E0B"/>
                </a:solidFill>
              </a:defRPr>
            </a:pPr>
            <a:r>
              <a:t>•  Constituent Weights Bounding:</a:t>
            </a:r>
          </a:p>
          <a:p>
            <a:pPr>
              <a:spcBef>
                <a:spcPts val="200"/>
              </a:spcBef>
              <a:defRPr sz="950">
                <a:solidFill>
                  <a:srgbClr val="F2F4F8"/>
                </a:solidFill>
              </a:defRPr>
            </a:pPr>
            <a:r>
              <a:t>Enforces strict regulatory concentration limits: single-stock weights are bounded between 1.0% and 18.0%, preventing over-concentration in sentiment spikes.</a:t>
            </a:r>
          </a:p>
          <a:p>
            <a:pPr>
              <a:spcBef>
                <a:spcPts val="800"/>
              </a:spcBef>
              <a:defRPr b="1" sz="1050">
                <a:solidFill>
                  <a:srgbClr val="F59E0B"/>
                </a:solidFill>
              </a:defRPr>
            </a:pPr>
            <a:r>
              <a:t>•  +34.2 bps Strategy Alpha:</a:t>
            </a:r>
          </a:p>
          <a:p>
            <a:pPr>
              <a:spcBef>
                <a:spcPts val="200"/>
              </a:spcBef>
              <a:defRPr sz="950">
                <a:solidFill>
                  <a:srgbClr val="F2F4F8"/>
                </a:solidFill>
              </a:defRPr>
            </a:pPr>
            <a:r>
              <a:t>Generates +0.342% annualized excess return over equal-weight benchmark by tilting into momentum leaders.</a:t>
            </a:r>
          </a:p>
          <a:p>
            <a:pPr>
              <a:spcBef>
                <a:spcPts val="800"/>
              </a:spcBef>
              <a:defRPr b="1" sz="1050">
                <a:solidFill>
                  <a:srgbClr val="F59E0B"/>
                </a:solidFill>
              </a:defRPr>
            </a:pPr>
            <a:r>
              <a:t>•  Controlled Turnover (6.8%):</a:t>
            </a:r>
          </a:p>
          <a:p>
            <a:pPr>
              <a:spcBef>
                <a:spcPts val="200"/>
              </a:spcBef>
              <a:defRPr sz="950">
                <a:solidFill>
                  <a:srgbClr val="F2F4F8"/>
                </a:solidFill>
              </a:defRPr>
            </a:pPr>
            <a:r>
              <a:t>Constrains portfolio turnover to 6.8%, minimizing transaction slippage and execution costs.</a:t>
            </a:r>
          </a:p>
          <a:p>
            <a:pPr>
              <a:spcBef>
                <a:spcPts val="800"/>
              </a:spcBef>
              <a:defRPr b="1" sz="1050">
                <a:solidFill>
                  <a:srgbClr val="F59E0B"/>
                </a:solidFill>
              </a:defRPr>
            </a:pPr>
            <a:r>
              <a:t>•  Dynamic Sector Donut &amp; Alpha Line:</a:t>
            </a:r>
          </a:p>
          <a:p>
            <a:pPr>
              <a:spcBef>
                <a:spcPts val="200"/>
              </a:spcBef>
              <a:defRPr sz="950">
                <a:solidFill>
                  <a:srgbClr val="F2F4F8"/>
                </a:solidFill>
              </a:defRPr>
            </a:pPr>
            <a:r>
              <a:t>Live Chart.js widgets recalculate Tech (46%), Financials (18%), Healthcare (12%), Consumer (14%), and Energy (10%) on every sentiment shock.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S&amp;P GLOBAL × CRISIL CAMPUS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2F4F8"/>
                </a:solidFill>
                <a:latin typeface="Arial"/>
              </a:defRPr>
            </a:pPr>
            <a:r>
              <a:t>Module B: Strategic Wholesale Banking Stress Tester (Live View)</a:t>
            </a:r>
          </a:p>
        </p:txBody>
      </p:sp>
      <p:pic>
        <p:nvPicPr>
          <p:cNvPr id="5" name="Picture 4" descr="shot_module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217920" cy="4754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32320" y="1463040"/>
            <a:ext cx="4297680" cy="4754880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274320" wrap="square"/>
          <a:lstStyle/>
          <a:p>
            <a:pPr algn="ctr">
              <a:defRPr sz="1400" b="1">
                <a:solidFill>
                  <a:srgbClr val="EF4444"/>
                </a:solidFill>
              </a:defRPr>
            </a:pPr>
            <a:r>
              <a:t>Module B Stress Testing Breakdown</a:t>
            </a:r>
          </a:p>
          <a:p>
            <a:pPr>
              <a:spcBef>
                <a:spcPts val="800"/>
              </a:spcBef>
              <a:defRPr b="1" sz="1050">
                <a:solidFill>
                  <a:srgbClr val="F59E0B"/>
                </a:solidFill>
              </a:defRPr>
            </a:pPr>
            <a:r>
              <a:t>•  Synthetic $1.0B Credit Book:</a:t>
            </a:r>
          </a:p>
          <a:p>
            <a:pPr>
              <a:spcBef>
                <a:spcPts val="200"/>
              </a:spcBef>
              <a:defRPr sz="950">
                <a:solidFill>
                  <a:srgbClr val="F2F4F8"/>
                </a:solidFill>
              </a:defRPr>
            </a:pPr>
            <a:r>
              <a:t>Models 15 syndicated wholesale facilities: $550M Commercial Loans, $450M Corporate Bonds, and $250M Derivative Hedges across AAA to B ratings.</a:t>
            </a:r>
          </a:p>
          <a:p>
            <a:pPr>
              <a:spcBef>
                <a:spcPts val="800"/>
              </a:spcBef>
              <a:defRPr b="1" sz="1050">
                <a:solidFill>
                  <a:srgbClr val="F59E0B"/>
                </a:solidFill>
              </a:defRPr>
            </a:pPr>
            <a:r>
              <a:t>•  Multi-Factor Factor Transmission:</a:t>
            </a:r>
          </a:p>
          <a:p>
            <a:pPr>
              <a:spcBef>
                <a:spcPts val="200"/>
              </a:spcBef>
              <a:defRPr sz="950">
                <a:solidFill>
                  <a:srgbClr val="F2F4F8"/>
                </a:solidFill>
              </a:defRPr>
            </a:pPr>
            <a:r>
              <a:t>Perturbs Treasury Yield Shift (Δy = +75 bps), Credit Spread Widening (Δs = +150 bps), and Basel PD Default Multiplier (1.65x).</a:t>
            </a:r>
          </a:p>
          <a:p>
            <a:pPr>
              <a:spcBef>
                <a:spcPts val="800"/>
              </a:spcBef>
              <a:defRPr b="1" sz="1050">
                <a:solidFill>
                  <a:srgbClr val="F59E0B"/>
                </a:solidFill>
              </a:defRPr>
            </a:pPr>
            <a:r>
              <a:t>•  Dual Valuation Loss Decomp:</a:t>
            </a:r>
          </a:p>
          <a:p>
            <a:pPr>
              <a:spcBef>
                <a:spcPts val="200"/>
              </a:spcBef>
              <a:defRPr sz="950">
                <a:solidFill>
                  <a:srgbClr val="F2F4F8"/>
                </a:solidFill>
              </a:defRPr>
            </a:pPr>
            <a:r>
              <a:t>• Bonds Mark-to-Market: -$38.0M (Duration-Convexity)</a:t>
            </a:r>
            <a:br/>
            <a:r>
              <a:t>• Loans Expected Loss (EL): -$18.0M (Merton Structural)</a:t>
            </a:r>
            <a:br/>
            <a:r>
              <a:t>• Swaps DV01 MTM: -$4.0M</a:t>
            </a:r>
          </a:p>
          <a:p>
            <a:pPr>
              <a:spcBef>
                <a:spcPts val="800"/>
              </a:spcBef>
              <a:defRPr b="1" sz="1050">
                <a:solidFill>
                  <a:srgbClr val="F59E0B"/>
                </a:solidFill>
              </a:defRPr>
            </a:pPr>
            <a:r>
              <a:t>•  Basel III Solvency Preserved:</a:t>
            </a:r>
          </a:p>
          <a:p>
            <a:pPr>
              <a:spcBef>
                <a:spcPts val="200"/>
              </a:spcBef>
              <a:defRPr sz="950">
                <a:solidFill>
                  <a:srgbClr val="F2F4F8"/>
                </a:solidFill>
              </a:defRPr>
            </a:pPr>
            <a:r>
              <a:t>Total Loss: -$60.0M (-6.00% Drawdown). Preserves $940.0M (94.0%) Tier-1 capital, comfortably exceeding the 8.0% regulatory floor.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S&amp;P GLOBAL × CRISIL CAMPUS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2F4F8"/>
                </a:solidFill>
                <a:latin typeface="Arial"/>
              </a:defRPr>
            </a:pPr>
            <a:r>
              <a:t>AI Copilot Intelligence, Domain Impact &amp; Roadmap</a:t>
            </a:r>
          </a:p>
        </p:txBody>
      </p:sp>
      <p:pic>
        <p:nvPicPr>
          <p:cNvPr id="5" name="Picture 4" descr="shot_copi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4114800" cy="4754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0" y="1463040"/>
            <a:ext cx="6400800" cy="2286000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28600" wrap="square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Institutional Value &amp; Domain Impact</a:t>
            </a:r>
          </a:p>
          <a:p>
            <a:pPr>
              <a:spcBef>
                <a:spcPts val="600"/>
              </a:spcBef>
              <a:defRPr sz="1000">
                <a:solidFill>
                  <a:srgbClr val="F2F4F8"/>
                </a:solidFill>
              </a:defRPr>
            </a:pPr>
            <a:r>
              <a:t>• Early Contagion Warning: Detects credit distress 3 to 14 days before rating agency downgrades.</a:t>
            </a:r>
          </a:p>
          <a:p>
            <a:pPr>
              <a:spcBef>
                <a:spcPts val="400"/>
              </a:spcBef>
              <a:defRPr sz="1000">
                <a:solidFill>
                  <a:srgbClr val="F2F4F8"/>
                </a:solidFill>
              </a:defRPr>
            </a:pPr>
            <a:r>
              <a:t>• Cross-Asset Silo Breakdown: Provides a unified qualitative truth feeding equity PMs and credit CROs.</a:t>
            </a:r>
          </a:p>
          <a:p>
            <a:pPr>
              <a:spcBef>
                <a:spcPts val="400"/>
              </a:spcBef>
              <a:defRPr sz="1000">
                <a:solidFill>
                  <a:srgbClr val="F2F4F8"/>
                </a:solidFill>
              </a:defRPr>
            </a:pPr>
            <a:r>
              <a:t>• AI Copilot Vision: Features real-time chart snapshot reasoning and mathematical formula verification.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0" y="3931920"/>
          <a:ext cx="6400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</a:tblGrid>
              <a:tr h="11430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59E0B"/>
                          </a:solidFill>
                        </a:defRPr>
                      </a:pPr>
                      <a:r>
                        <a:t>Phase 1: MVP (Done)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59E0B"/>
                          </a:solidFill>
                        </a:defRPr>
                      </a:pPr>
                      <a:r>
                        <a:t>Phase 2: Scale (Q2 2026)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59E0B"/>
                          </a:solidFill>
                        </a:defRPr>
                      </a:pPr>
                      <a:r>
                        <a:t>Phase 3: DMA (Q3 2026)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59E0B"/>
                          </a:solidFill>
                        </a:defRPr>
                      </a:pPr>
                      <a:r>
                        <a:t>Phase 4: Multimodal (Q4)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2F4F8"/>
                          </a:solidFill>
                        </a:defRPr>
                      </a:pPr>
                      <a:r>
                        <a:t>Dual downstream + sub-25ms NLP + ISTC cockpit UI.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2F4F8"/>
                          </a:solidFill>
                        </a:defRPr>
                      </a:pPr>
                      <a:r>
                        <a:t>Scale to 5,000+ global tickers with Celery / Redis.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2F4F8"/>
                          </a:solidFill>
                        </a:defRPr>
                      </a:pPr>
                      <a:r>
                        <a:t>FIX protocol order routing to dark pools.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2F4F8"/>
                          </a:solidFill>
                        </a:defRPr>
                      </a:pPr>
                      <a:r>
                        <a:t>SEC 10-K parser + FOMC speech transcription.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